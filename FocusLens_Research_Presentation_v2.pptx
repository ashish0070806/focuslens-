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ink/ink6.xml" ContentType="application/inkml+xml"/>
  <Override PartName="/ppt/notesSlides/notesSlide4.xml" ContentType="application/vnd.openxmlformats-officedocument.presentationml.notesSlide+xml"/>
  <Override PartName="/ppt/ink/ink7.xml" ContentType="application/inkml+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Bitter" panose="020B0604020202020204" charset="0"/>
      <p:regular r:id="rId11"/>
    </p:embeddedFont>
    <p:embeddedFont>
      <p:font typeface="Bitter Bold" panose="020B0604020202020204" charset="0"/>
      <p:regular r:id="rId12"/>
    </p:embeddedFont>
    <p:embeddedFont>
      <p:font typeface="Bitter SemiBold" panose="020B0604020202020204" charset="0"/>
      <p:regular r:id="rId13"/>
    </p:embeddedFont>
    <p:embeddedFont>
      <p:font typeface="Jost"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11:06:32.748"/>
    </inkml:context>
    <inkml:brush xml:id="br0">
      <inkml:brushProperty name="width" value="0.035" units="cm"/>
      <inkml:brushProperty name="height" value="0.035" units="cm"/>
    </inkml:brush>
  </inkml:definitions>
  <inkml:trace contextRef="#ctx0" brushRef="#br0">305 77 24575,'150'-8'0,"-109"4"0,0 1 0,1 2 0,-1 2 0,1 1 0,50 11 0,-77-8 0,0 0 0,-1 1 0,0 1 0,0 0 0,0 1 0,-1 1 0,-1 0 0,1 0 0,-1 1 0,-1 1 0,0 0 0,0 1 0,13 19 0,-2 0 0,-2 1 0,-1 0 0,-1 2 0,18 50 0,-33-77 0,0 1 0,-1-1 0,0 1 0,0-1 0,-1 1 0,0 0 0,0-1 0,-1 11 0,0-17 0,0 1 0,0-1 0,-1 1 0,1-1 0,0 0 0,-1 1 0,0-1 0,1 1 0,-1-1 0,0 0 0,1 0 0,-1 1 0,0-1 0,0 0 0,0 0 0,0 0 0,0 0 0,-2 2 0,0-2 0,1 0 0,0 0 0,-1-1 0,1 1 0,0 0 0,-1-1 0,1 0 0,-1 1 0,1-1 0,-1 0 0,1 0 0,-1 0 0,1-1 0,-5 0 0,3 0 0,1-1 0,-1 1 0,1-1 0,0 1 0,-1-1 0,1 0 0,0 0 0,0-1 0,0 1 0,0-1 0,1 1 0,-1-1 0,1 0 0,-1 0 0,1 0 0,0 0 0,0 0 0,1-1 0,-1 1 0,1-1 0,-1 1 0,1-1 0,0 1 0,0-1 0,1 0 0,-1-6 0,-2-13 0,1-1 0,1 1 0,2-26 0,-1 36 0,1-6 0,0 1 0,1 0 0,1 0 0,1 1 0,12-35 0,-14 47 0,-1 0 0,1 0 0,1 1 0,-1-1 0,1 1 0,0-1 0,0 1 0,0 0 0,0 0 0,1 0 0,-1 1 0,1-1 0,0 1 0,0 0 0,1 0 0,-1 0 0,1 0 0,-1 1 0,1 0 0,0 0 0,0 0 0,0 1 0,0-1 0,0 1 0,7 0 0,-11 0 0,0 1 0,1 0 0,-1 0 0,0 0 0,0 0 0,0 0 0,0 0 0,0 0 0,1 0 0,-1 1 0,0-1 0,0 0 0,0 1 0,0-1 0,0 1 0,0-1 0,0 1 0,0-1 0,0 1 0,0 0 0,0-1 0,0 1 0,-1 0 0,1 0 0,0 0 0,0 0 0,-1 0 0,1-1 0,-1 1 0,1 0 0,-1 1 0,1-1 0,-1 0 0,1 0 0,-1 0 0,0 0 0,0 0 0,0 0 0,1 0 0,-1 0 0,0 1 0,0-1 0,-1 0 0,1 0 0,0 0 0,0 0 0,0 0 0,-1 0 0,1 1 0,-1-1 0,0 1 0,-1 5 0,-1 0 0,0-1 0,0 0 0,0 0 0,-1 0 0,0 0 0,-5 6 0,-1-2 0,-1 0 0,0-1 0,-1 0 0,0-1 0,-1 0 0,0-1 0,0 0 0,0-1 0,-1-1 0,1 0 0,-1-1 0,-1 0 0,1-1 0,0-1 0,-17 1 0,2-1 0,-1-2 0,1-1 0,0-1 0,-1-2 0,1-1 0,-44-13 0,66 16 0,-1-1 0,1 0 0,0 0 0,0-1 0,0 1 0,1-2 0,-1 1 0,1-1 0,0 0 0,0 0 0,1-1 0,-6-6 0,9 10 0,0-1 0,1 1 0,-1-1 0,1 0 0,-1 1 0,1-1 0,0 0 0,0 0 0,1 0 0,-1 0 0,0 0 0,1 0 0,0 0 0,0 0 0,0 0 0,0-1 0,0 1 0,0 0 0,1 0 0,0 0 0,-1 0 0,1 0 0,0 0 0,1 1 0,-1-1 0,0 0 0,1 0 0,0 1 0,-1-1 0,1 1 0,0-1 0,5-3 0,0-1 0,1 1 0,0 0 0,0 1 0,1 0 0,0 0 0,0 1 0,0 0 0,0 0 0,1 1 0,17-4 0,13-1 0,47-3 0,-47 12 0,-27 4 0,-13-5 0,0 1 0,-1 0 0,1-1 0,0 1 0,0 0 0,-1-1 0,1 1 0,-1-1 0,1 1 0,0-1 0,-1 1 0,1-1 0,-1 1 0,1-1 0,-1 1 0,1-1 0,-1 0 0,1 1 0,-1-1 0,0 0 0,1 0 0,-1 1 0,0-1 0,1 0 0,-2 0 0,-13 7 0,-1-1 0,0-1 0,0 0 0,0-1 0,-21 2 0,-91 5 0,100-9 0,-503 6 0,523-9 0,10-2 0,21-3 0,43-4 0,71 2 0,0 5 0,1 7 0,-1 5 0,0 7 0,-1 6 0,-2 5 0,0 6 0,-2 6 0,128 58 0,-248-93 0,0 0 0,-1 0 0,0 1 0,-1 0 0,1 0 0,-1 1 0,0 0 0,0 1 0,-1 1 0,0-1 0,10 11 0,-19-17 0,1 0 0,0 0 0,-1 0 0,1 0 0,0 0 0,-1 0 0,1 1 0,-1-1 0,0 0 0,1 0 0,-1 1 0,0-1 0,0 0 0,0 1 0,0-1 0,0 0 0,0 0 0,0 1 0,0-1 0,-1 0 0,1 1 0,0-1 0,-1 0 0,1 0 0,-1 0 0,1 1 0,-1-1 0,0 0 0,0 0 0,1 0 0,-1 0 0,0 0 0,0 0 0,0 0 0,0 0 0,0-1 0,0 1 0,0 0 0,0-1 0,0 1 0,-1 0 0,1-1 0,0 1 0,0-1 0,-1 0 0,0 1 0,-10 3 0,0 1 0,-1-2 0,-19 4 0,26-6 0,-75 12 0,-143 4 0,-88-20 0,247 1 0,50 2 0,-4 0 0,0 0 0,0-2 0,0 0 0,0-1 0,-22-7 0,38 10 0,0-1 0,0-1 0,0 1 0,0 0 0,0-1 0,1 1 0,-1-1 0,0 0 0,1 0 0,0 0 0,-1 0 0,1 0 0,0-1 0,0 1 0,0-1 0,0 1 0,0-1 0,1 0 0,-1 0 0,1 0 0,0 1 0,0-1 0,0-1 0,0 1 0,0 0 0,1 0 0,0 0 0,-1 0 0,1 0 0,0-1 0,0 1 0,1 0 0,-1 0 0,1 0 0,-1 0 0,1 0 0,0 0 0,2-5 0,0 0 0,1 0 0,0 0 0,0 1 0,1-1 0,-1 1 0,2 0 0,-1 0 0,1 1 0,0 0 0,0 0 0,1 0 0,0 0 0,9-5 0,12-6 0,2 0 0,32-12 0,-36 16 0,-5 0 0,-21 13 0,0-1 0,0 1 0,0 0 0,0 0 0,0 0 0,0-1 0,0 1 0,1 0 0,-1 0 0,0 0 0,0-1 0,0 1 0,0 0 0,0 0 0,0 0 0,0-1 0,0 1 0,0 0 0,0 0 0,0 0 0,-1-1 0,1 1 0,0 0 0,0 0 0,0 0 0,0-1 0,0 1 0,0 0 0,0 0 0,-1 0 0,1-1 0,0 1 0,0 0 0,0 0 0,0 0 0,0 0 0,-1 0 0,1 0 0,0-1 0,0 1 0,0 0 0,-1 0 0,1 0 0,0 0 0,0 0 0,0 0 0,-1 0 0,-46-4 0,-561 30 0,555-27 0,53 1 0,0 0 0,-1 0 0,1 0 0,0-1 0,0 1 0,0 0 0,-1 0 0,1 0 0,0 0 0,0 0 0,-1 0 0,1-1 0,0 1 0,0 0 0,0 0 0,-1 0 0,1 0 0,0-1 0,0 1 0,0 0 0,0 0 0,0 0 0,-1-1 0,1 1 0,0 0 0,0 0 0,0-1 0,0 1 0,0 0 0,0 0 0,0-1 0,0 1 0,0 0 0,0 0 0,0-1 0,0 1 0,0 0 0,0 0 0,0-1 0,0 1 0,0 0 0,0 0 0,1-1 0,-1 1 0,20-19 0,28-11 0,25-18 0,-73 48 0,1 0 0,0-1 0,0 1 0,-1-1 0,1 1 0,0-1 0,-1 1 0,1-1 0,0 1 0,-1-1 0,1 0 0,-1 1 0,1-1 0,-1 0 0,1 1 0,-1-1 0,0 0 0,1 0 0,-1 1 0,0-1 0,0 0 0,1 0 0,-1 0 0,0 1 0,0-1 0,0 0 0,0 0 0,0 0 0,0 0 0,0 1 0,0-1 0,-1 0 0,1 0 0,0 0 0,0 1 0,-1-1 0,1 0 0,0 0 0,-1 1 0,1-1 0,-2-1 0,-1-1 0,-1 1 0,1 0 0,-1-1 0,0 1 0,1 1 0,-1-1 0,0 0 0,-6-1 0,-69-17-1365,-15-1-5461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11:06:39.423"/>
    </inkml:context>
    <inkml:brush xml:id="br0">
      <inkml:brushProperty name="width" value="0.35" units="cm"/>
      <inkml:brushProperty name="height" value="0.35" units="cm"/>
    </inkml:brush>
  </inkml:definitions>
  <inkml:trace contextRef="#ctx0" brushRef="#br0">0 865 24575,'1'-5'0,"-1"0"0,1 0 0,0 0 0,0 1 0,0-1 0,1 0 0,-1 1 0,1-1 0,0 1 0,1 0 0,-1 0 0,1 0 0,0 0 0,0 0 0,0 0 0,0 1 0,1-1 0,-1 1 0,1 0 0,0 0 0,0 0 0,0 1 0,0-1 0,1 1 0,-1 0 0,1 0 0,-1 1 0,1-1 0,0 1 0,-1 0 0,1 0 0,0 1 0,0-1 0,0 1 0,0 0 0,8 2 0,-8-1 0,-1 0 0,1 0 0,-1 1 0,1-1 0,-1 1 0,1 0 0,-1 1 0,0-1 0,0 1 0,-1 0 0,1 0 0,0 0 0,-1 0 0,0 1 0,1-1 0,-1 1 0,3 5 0,-1-2 0,-1 1 0,1-1 0,-1 1 0,-1 0 0,1 0 0,-2 0 0,1 1 0,2 13 0,-5-19 0,0-1 0,-1 0 0,1 1 0,-1-1 0,1 0 0,-1 1 0,0-1 0,0 0 0,0 0 0,0 0 0,0 0 0,0 0 0,-1 0 0,1 0 0,-1 0 0,1-1 0,-1 1 0,0 0 0,0-1 0,0 0 0,0 1 0,0-1 0,0 0 0,-4 2 0,5-2 0,0-1 0,0 1 0,0 0 0,0 0 0,-1-1 0,1 1 0,0-1 0,-1 1 0,1-1 0,0 0 0,-1 0 0,1 1 0,0-1 0,-1 0 0,1 0 0,-1 0 0,1 0 0,0-1 0,-1 1 0,1 0 0,0 0 0,-1-1 0,1 1 0,0-1 0,-1 1 0,1-1 0,0 0 0,0 0 0,0 1 0,0-1 0,-1 0 0,1 0 0,0 0 0,1 0 0,-1 0 0,0 0 0,0 0 0,0-1 0,0 0 0,-3-18 0,0 0 0,2 0 0,0 0 0,1 0 0,2-1 0,3-28 0,-2 11 0,-1 17 0,2 1 0,0-1 0,1 1 0,1 0 0,1 0 0,0 1 0,16-31 0,-16 38 0,0 1 0,1 0 0,0 0 0,1 1 0,0 0 0,1 1 0,0-1 0,0 1 0,1 1 0,0 0 0,1 1 0,-1 0 0,19-9 0,-24 14 0,0 0 0,0 1 0,0-1 0,0 1 0,0 0 0,1 1 0,-1-1 0,0 1 0,1 0 0,-1 0 0,0 1 0,0 0 0,1 0 0,-1 0 0,0 0 0,0 1 0,0 0 0,0 0 0,0 0 0,-1 1 0,1-1 0,-1 1 0,1 0 0,-1 1 0,0-1 0,0 1 0,0 0 0,-1 0 0,4 4 0,7 9 0,-1 1 0,-1 0 0,-1 1 0,0 1 0,13 34 0,-22-49 0,0-1 0,-1 1 0,1 0 0,-1 0 0,0 0 0,0-1 0,0 1 0,-1 0 0,0 0 0,0 0 0,0 0 0,0 0 0,-1 0 0,0 0 0,0 0 0,0 0 0,-1-1 0,-3 9 0,2-9 0,0 0 0,1-1 0,-2 1 0,1-1 0,0 0 0,-1 0 0,1 0 0,-1 0 0,0-1 0,0 1 0,0-1 0,0 0 0,0 0 0,0-1 0,-1 1 0,1-1 0,-1 0 0,1 0 0,-1-1 0,-6 1 0,8 0 0,1-1 0,-1 0 0,0 1 0,0-1 0,1 0 0,-1 0 0,0-1 0,1 1 0,-1-1 0,0 1 0,1-1 0,-1 0 0,1 0 0,-1 0 0,1 0 0,0 0 0,-1-1 0,1 1 0,-4-4 0,5 3 0,-1 0 0,1-1 0,0 1 0,1 0 0,-1-1 0,0 1 0,1 0 0,-1-1 0,1 1 0,0-1 0,0 1 0,0-1 0,0 1 0,0 0 0,0-1 0,1 1 0,-1-1 0,1 1 0,0 0 0,0-1 0,0 1 0,2-4 0,5-12 0,1 0 0,1 0 0,1 1 0,0 1 0,1 0 0,1 0 0,1 1 0,0 1 0,1 0 0,0 1 0,1 1 0,0 0 0,1 1 0,1 1 0,-1 0 0,24-8 0,-39 17 0,0 0 0,0 1 0,1-1 0,-1 1 0,0-1 0,0 1 0,0 0 0,0 0 0,1-1 0,-1 2 0,0-1 0,0 0 0,1 0 0,-1 1 0,0-1 0,0 1 0,0 0 0,0 0 0,0-1 0,0 1 0,0 1 0,0-1 0,0 0 0,0 0 0,-1 1 0,1-1 0,-1 1 0,1-1 0,-1 1 0,1 0 0,-1 0 0,0-1 0,2 5 0,3 5 0,-1 1 0,-1 0 0,0 0 0,5 23 0,-5-15 0,18 81 0,-4 1 0,-5 1 0,0 207 0,-17-283 0,-4-43 0,-4-43 0,11 44 0,2 0 0,0 0 0,1 1 0,0-1 0,1 1 0,1-1 0,0 1 0,1 0 0,0 0 0,1 1 0,1 0 0,0 0 0,1 0 0,0 1 0,1 0 0,19-20 0,-17 20 0,1 0 0,1 1 0,0 0 0,0 1 0,1 1 0,1 0 0,-1 0 0,1 2 0,1 0 0,-1 0 0,1 2 0,0 0 0,0 0 0,26-2 0,-35 7 0,0 0 0,0 0 0,0 1 0,0 0 0,-1 0 0,1 1 0,0 0 0,-1 0 0,1 1 0,-1-1 0,1 2 0,-1-1 0,0 0 0,0 1 0,-1 0 0,1 1 0,-1-1 0,0 1 0,8 10 0,5 7 0,-1 2 0,-1-1 0,18 39 0,-26-46 0,24 45 0,-4 2 0,-2 1 0,-3 0 0,17 78 0,-38-136 0,-1 0 0,0 0 0,0 1 0,0-1 0,-1 0 0,0 1 0,-1 12 0,0-17 0,0-1 0,1 1 0,-1 0 0,0 0 0,0 0 0,0 0 0,0-1 0,-1 1 0,1 0 0,0-1 0,-1 1 0,1-1 0,-1 1 0,1-1 0,-1 0 0,0 0 0,0 0 0,1 0 0,-1 0 0,0 0 0,0 0 0,0 0 0,0-1 0,0 1 0,0-1 0,0 0 0,0 1 0,-2-1 0,-42 3 0,0-1 0,1-2 0,-1-2 0,-60-11 0,94 11 0,1 0 0,-1 0 0,1-1 0,0-1 0,0 0 0,0 0 0,0-1 0,-15-9 0,22 10 0,0 1 0,0-1 0,0 1 0,0-1 0,1 0 0,0-1 0,-1 1 0,2-1 0,-1 1 0,0-1 0,1 0 0,0 0 0,0 0 0,0 0 0,1 0 0,0-1 0,0 1 0,0 0 0,0-1 0,1-7 0,0 9 0,-1-13 0,1 0 0,1 0 0,0 0 0,6-23 0,-7 37 0,1 0 0,-1 0 0,1 0 0,0 0 0,1 0 0,-1 0 0,0 0 0,1 1 0,0-1 0,-1 0 0,1 1 0,0-1 0,1 1 0,-1 0 0,0-1 0,0 1 0,1 0 0,0 1 0,-1-1 0,1 0 0,0 1 0,0-1 0,0 1 0,-1 0 0,2 0 0,-1 0 0,0 0 0,0 1 0,0-1 0,5 1 0,-6 0 0,0 0 0,1 1 0,-1-1 0,0 1 0,0 0 0,0 0 0,0 0 0,0 0 0,0 0 0,0 0 0,0 0 0,0 0 0,0 1 0,0-1 0,-1 1 0,1-1 0,-1 1 0,1 0 0,-1 0 0,0 0 0,1 0 0,-1 0 0,0 0 0,0 0 0,-1 0 0,2 3 0,2 8 0,0-1 0,-1 1 0,2 16 0,-5-28 0,3 10 0,-1 0 0,-1 1 0,0 0 0,-1-1 0,0 1 0,-1-1 0,0 1 0,0-1 0,-1 0 0,-1 1 0,0-1 0,-1 0 0,0 0 0,-1-1 0,0 1 0,0-1 0,-1 0 0,0 0 0,-1-1 0,0 0 0,-1 0 0,0-1 0,-14 12 0,-8 3 0,-2-2 0,0-1 0,-2-1 0,0-2 0,-1-2 0,0-1 0,-1-1 0,-1-2 0,-54 8 0,86-18 0,0 0 0,0 0 0,0-1 0,0 1 0,0-1 0,-1-1 0,1 1 0,0-1 0,0 0 0,0 0 0,-9-3 0,11 2 0,0 0 0,0 0 0,0 0 0,0 0 0,1-1 0,-1 1 0,1-1 0,0 1 0,0-1 0,-1 0 0,2 0 0,-1 0 0,0 0 0,1 0 0,-1 0 0,1-1 0,0 1 0,-1-4 0,-3-11 0,1 0 0,1-1 0,0 1 0,1-1 0,1 1 0,1-1 0,1 1 0,0-1 0,1 0 0,1 1 0,1 0 0,1 0 0,0 0 0,1 0 0,1 1 0,1 0 0,0 1 0,2-1 0,-1 2 0,2-1 0,0 1 0,1 1 0,0 0 0,29-24 0,-9 15 0,1 1 0,1 1 0,1 2 0,1 2 0,68-24 0,-50 25 0,0 2 0,1 2 0,85-7 0,-122 17 0,2 0 0,0 1 0,0 0 0,39 5 0,-57-4 0,0 1 0,0 0 0,0 0 0,-1-1 0,1 1 0,0 0 0,0 1 0,0-1 0,-1 0 0,1 0 0,-1 1 0,1-1 0,-1 1 0,0-1 0,1 1 0,-1 0 0,0-1 0,0 1 0,0 0 0,0 0 0,0 0 0,-1 0 0,1 0 0,-1 0 0,1 0 0,-1 0 0,1 4 0,0 7 0,0 1 0,-1-1 0,-1 18 0,0-14 0,-1 11 0,-1 0 0,-1 0 0,-2-1 0,0 0 0,-2 0 0,-1 0 0,-1-1 0,-1-1 0,-1 1 0,-2-2 0,0 0 0,-2-1 0,0 0 0,-2-1 0,-35 35 0,25-32 0,-2 0 0,0-2 0,-1-1 0,-1-2 0,-1-1 0,-1-2 0,-1-1 0,0-1 0,-1-2 0,0-2 0,-45 8 0,37-10 0,0-2 0,-1-3 0,1-1 0,-1-2 0,-68-8 0,109 7 0,-1-1 0,1 0 0,-1 0 0,1 0 0,0 0 0,0-1 0,-1 0 0,1 0 0,0 0 0,1 0 0,-1 0 0,0-1 0,0 0 0,1 0 0,0 0 0,0 0 0,0 0 0,0-1 0,0 1 0,0-1 0,-1-4 0,0-2 0,0 0 0,1 0 0,1 0 0,0-1 0,0 1 0,1-1 0,0-19 0,11-334 0,-7 327 0,1 1 0,3 0 0,0 0 0,3 0 0,0 1 0,3 1 0,0 0 0,23-39 0,-21 46 0,2 2 0,0 0 0,2 0 0,1 2 0,0 0 0,2 2 0,0 0 0,2 1 0,0 2 0,33-20 0,-54 36 0,0 0 0,1 0 0,-1 1 0,0-1 0,1 1 0,-1 0 0,0 0 0,6 0 0,-8 1 0,0 0 0,0 0 0,0 0 0,0 0 0,0 0 0,0 0 0,0 0 0,0 0 0,0 1 0,0-1 0,0 1 0,0-1 0,0 1 0,0-1 0,0 1 0,0-1 0,-1 1 0,1 0 0,0-1 0,1 2 0,0 3 0,1 0 0,-1 0 0,0 1 0,0-1 0,0 0 0,-1 1 0,0-1 0,0 1 0,-1-1 0,1 8 0,5 69 0,-4 0 0,-3 0 0,-4 0 0,-3 0 0,-32 136 0,34-196 0,0 0 0,-2-1 0,-20 39 0,26-56 0,0 1 0,0-1 0,-1 0 0,0 0 0,0 0 0,0 0 0,0-1 0,0 1 0,-1-1 0,1 0 0,-1 0 0,0 0 0,0-1 0,0 1 0,-1-1 0,1 0 0,0 0 0,-1 0 0,1-1 0,-1 1 0,0-1 0,0 0 0,1-1 0,-10 1 0,11-2 0,0 1 0,0-1 0,0-1 0,1 1 0,-1 0 0,0-1 0,0 1 0,1-1 0,-1 0 0,1 0 0,0 0 0,-1 0 0,1 0 0,0 0 0,0-1 0,0 1 0,0-1 0,1 1 0,-1-1 0,1 0 0,-2-4 0,-5-11 0,1 0 0,-6-25 0,7 20 0,-32-104 0,-37-234 0,63 270 0,5 0 0,3 0 0,13-137 0,-4 184 0,2 0 0,13-45 0,-16 74 0,1 0 0,0 1 0,1-1 0,0 1 0,2 1 0,-1-1 0,1 1 0,1 0 0,15-16 0,-24 29 0,1-1 0,-1 1 0,1-1 0,-1 1 0,1-1 0,-1 1 0,1 0 0,-1-1 0,1 1 0,-1 0 0,1-1 0,-1 1 0,1 0 0,0 0 0,-1-1 0,1 1 0,-1 0 0,1 0 0,0 0 0,-1 0 0,1 0 0,0 0 0,-1 0 0,1 0 0,0 0 0,-1 0 0,1 0 0,-1 1 0,1-1 0,0 0 0,-1 0 0,1 1 0,0-1 0,14 23 0,0 39 0,-1 35 0,0 115 0,-13 107 0,-2-190 0,1-81 0,0 13 0,-7 66 0,5-111 0,-1 0 0,0 0 0,-1 0 0,0-1 0,-1 0 0,-1 0 0,-1 0 0,0 0 0,-11 16 0,16-29 0,1 0 0,-1 0 0,1 0 0,-1 0 0,0 0 0,0 0 0,1-1 0,-1 1 0,-1-1 0,1 1 0,0-1 0,0 0 0,0 1 0,-3 0 0,3-2 0,1 0 0,0 0 0,0 0 0,0 0 0,0 0 0,0 0 0,0 0 0,0 0 0,0-1 0,0 1 0,0 0 0,0-1 0,0 1 0,0-1 0,0 1 0,0-1 0,0 1 0,0-1 0,0 0 0,1 1 0,-1-1 0,0 0 0,0-1 0,-3-4 0,0 0 0,0 0 0,1 0 0,0-1 0,0 1 0,1-1 0,0 0 0,-2-12 0,-14-88 0,6-1 0,3-1 0,9-139 0,0 199 0,3-1 0,2 0 0,3 1 0,21-79 0,-16 105 0,-12 23 0,-1 0 0,0 0 0,1 0 0,-1 0 0,0 0 0,1 0 0,-1 0 0,0 0 0,1 0 0,-1 0 0,0 0 0,1 0 0,-1 0 0,0 1 0,1-1 0,-1 0 0,0 0 0,0 0 0,1 0 0,-1 1 0,0-1 0,0 0 0,1 0 0,-1 1 0,0-1 0,0 0 0,0 0 0,0 1 0,1-1 0,-1 0 0,0 1 0,0-1 0,0 0 0,0 1 0,0-1 0,0 0 0,0 1 0,0-1 0,7 51 0,-8 33 0,-4-1 0,-4 1 0,-3-1 0,-4-1 0,-36 110 0,48-178 0,3-10 0,0 0 0,0 0 0,0 0 0,-1 0 0,0 0 0,1 0 0,-1 0 0,-1-1 0,1 1 0,-6 6 0,8-10 0,0 0 0,-1 0 0,1 0 0,0 0 0,0 0 0,-1 0 0,1 0 0,0 1 0,-1-1 0,1 0 0,0 0 0,-1 0 0,1-1 0,0 1 0,0 0 0,-1 0 0,1 0 0,0 0 0,-1 0 0,1 0 0,0 0 0,0 0 0,-1-1 0,1 1 0,0 0 0,0 0 0,-1 0 0,1-1 0,0 1 0,0 0 0,0 0 0,-1 0 0,1-1 0,0 1 0,0 0 0,0 0 0,0-1 0,0 1 0,0 0 0,-1-1 0,1 1 0,0-1 0,-5-15 0,-4-43 0,3 0 0,2 0 0,5-89 0,1 52 0,-2-81-1365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14.842"/>
    </inkml:context>
    <inkml:brush xml:id="br0">
      <inkml:brushProperty name="width" value="0.05" units="cm"/>
      <inkml:brushProperty name="height" value="0.05" units="cm"/>
      <inkml:brushProperty name="color" value="#1B2A41"/>
    </inkml:brush>
  </inkml:definitions>
  <inkml:trace contextRef="#ctx0" brushRef="#br0">0 506 24575,'6'3'0,"1"0"0,-1 0 0,0 0 0,1-1 0,0 0 0,-1 0 0,1-1 0,0 0 0,0 0 0,0-1 0,0 1 0,10-2 0,2 1 0,685 5 0,-379-8 0,-185 2 0,0 6 0,196 33 0,-32 31 0,-141-30 0,-88-24 0,-273-22 0,192 7 0,1 0 0,-1 0 0,1-1 0,0 1 0,-1-1 0,1-1 0,0 1 0,-10-5 0,14 6 0,0-1 0,0 0 0,0 0 0,0 1 0,1-1 0,-1 0 0,0 0 0,0 0 0,1 0 0,-1 0 0,0 0 0,1 0 0,-1 0 0,1-1 0,-1 1 0,1 0 0,0 0 0,-1 0 0,1-1 0,0 1 0,0 0 0,0 0 0,0 0 0,0-1 0,0 1 0,0 0 0,0 0 0,1-1 0,-1 1 0,0 0 0,1 0 0,-1 0 0,1 0 0,-1 0 0,1 0 0,0 0 0,-1 0 0,1 0 0,0 0 0,0 0 0,0 0 0,1-1 0,3-4 0,1 0 0,0 1 0,0 0 0,0 0 0,1 0 0,0 1 0,0 0 0,0 0 0,0 0 0,0 1 0,1 0 0,15-3 0,-20 5 0,104-35 0,57-18 0,257-123 0,-373 147 0,-47 30 0,-1 0 0,1 0 0,-1 0 0,1-1 0,-1 1 0,1 0 0,-1 0 0,0-1 0,1 1 0,-1 0 0,1-1 0,-1 1 0,0 0 0,1-1 0,-1 1 0,0-1 0,1 1 0,-1-1 0,0 1 0,0-1 0,0 1 0,1 0 0,-1-1 0,0 1 0,0-1 0,0 1 0,0-1 0,0 0 0,0 1 0,0-1 0,0 1 0,0-1 0,0 1 0,0-1 0,0 1 0,0-1 0,-1 1 0,1-1 0,0 1 0,0-1 0,0 1 0,-1 0 0,1-1 0,0 1 0,-1-1 0,1 1 0,0 0 0,-1-1 0,1 1 0,0 0 0,-1-1 0,1 1 0,-2-1 0,-29-6 0,-15 2 0,0 2 0,-1 3 0,-85 9 0,-141 43 0,223-43 0,36-7 0,0 1 0,1 0 0,0 0 0,-1 1 0,-21 11 0,31-13 0,0 1 0,0 0 0,0 0 0,1 0 0,-1 0 0,1 0 0,0 1 0,0 0 0,0 0 0,1-1 0,-1 1 0,1 1 0,0-1 0,0 0 0,0 1 0,1-1 0,0 1 0,0-1 0,0 1 0,0-1 0,0 7 0,-12 143 0,13-152 0,0-1 0,0 0 0,-1 1 0,1-1 0,0 1 0,0-1 0,0 0 0,1 1 0,-1-1 0,0 0 0,0 1 0,1-1 0,-1 0 0,1 1 0,-1-1 0,1 0 0,-1 1 0,1-1 0,0 0 0,0 0 0,0 0 0,0 0 0,-1 0 0,4 2 0,-2-2 0,1 1 0,-1-1 0,1 0 0,0 0 0,0 0 0,-1 0 0,1-1 0,0 1 0,0-1 0,0 0 0,4 1 0,9-2 0,0-1 0,0 0 0,21-6 0,-32 7 0,45-10 0,-1-3 0,0-1 0,-1-3 0,63-33 0,-110 51 0,-1 0 0,0 0 0,1 0 0,-1 0 0,0 0 0,1 0 0,-1 0 0,1 0 0,-1 0 0,0-1 0,1 1 0,-1 0 0,0 0 0,1 0 0,-1 0 0,0-1 0,0 1 0,1 0 0,-1 0 0,0 0 0,0-1 0,1 1 0,-1 0 0,0-1 0,0 1 0,1 0 0,-1-1 0,0 1 0,0 0 0,0 0 0,0-1 0,0 1 0,0-1 0,1 1 0,-1 0 0,0-1 0,0 1 0,0 0 0,0-1 0,0 1 0,0 0 0,0-1 0,-1 1 0,1 0 0,0-1 0,0 1 0,0-1 0,0 1 0,-23-4 0,-34 7 0,-96 11 0,-235-9 0,385-6 0,-1 1 0,0 0 0,1-1 0,-1 0 0,1 0 0,-1 0 0,1-1 0,-1 1 0,1-1 0,0 1 0,0-1 0,-1 0 0,2-1 0,-1 1 0,0 0 0,0-1 0,1 0 0,-1 1 0,1-1 0,0 0 0,0 0 0,0 0 0,0-1 0,0 1 0,1 0 0,0-1 0,-1 1 0,1-1 0,0 1 0,1-1 0,-1-5 0,-2-13 0,1 0 0,2-1 0,0 1 0,4-27 0,-1 7 0,-3 37 0,0-12 0,1 0 0,1 0 0,0 0 0,1 0 0,7-23 0,-8 35 0,0 0 0,1 0 0,-1 1 0,1-1 0,0 1 0,0 0 0,1 0 0,-1 0 0,1 0 0,0 0 0,0 1 0,0 0 0,0-1 0,1 2 0,-1-1 0,1 0 0,-1 1 0,1 0 0,0 0 0,0 1 0,0-1 0,7 0 0,11-3 0,-1 1 0,0 2 0,1 0 0,-1 1 0,1 2 0,0 0 0,27 5 0,-35-3 0,1 1 0,-2 1 0,1 0 0,-1 1 0,1 0 0,-2 1 0,1 1 0,-1 0 0,0 1 0,-1 0 0,18 18 0,-7-3 0,-1 1 0,-1 2 0,-1 0 0,-2 0 0,-1 2 0,23 51 0,-38-75 0,0 0 0,0 0 0,0 1 0,0-1 0,-1 0 0,0 1 0,-1-1 0,1 1 0,-1-1 0,0 1 0,0-1 0,0 1 0,-1-1 0,0 0 0,-2 8 0,1-9 0,0 0 0,0 0 0,-1 1 0,1-1 0,-1-1 0,0 1 0,0 0 0,-1-1 0,1 1 0,-1-1 0,1 0 0,-1 0 0,0-1 0,0 1 0,-1-1 0,1 0 0,-9 3 0,-3 2 0,0-1 0,-1-1 0,0 0 0,0-1 0,0-1 0,0-1 0,-1 0 0,-30-2 0,41 0 0,1-1 0,0 0 0,-1-1 0,1 0 0,0 0 0,0 0 0,0-1 0,0 1 0,1-1 0,-1-1 0,1 1 0,0-1 0,0 0 0,0 0 0,0-1 0,1 1 0,-1-1 0,1 0 0,1 0 0,-1-1 0,1 1 0,0-1 0,0 1 0,0-1 0,1 0 0,0 0 0,-2-8 0,-2-12 0,0-1 0,2 1 0,1-1 0,2 0 0,0 0 0,2-1 0,0 1 0,2 1 0,11-46 0,-12 65-57,1-1 0,-1 2 1,1-1-1,1 0 0,-1 1 0,1-1 0,0 1 0,1 0 0,-1 0 0,1 1 0,0-1 1,1 1-1,-1 0 0,1 1 0,0-1 0,0 1 0,0 0 0,1 1 0,0-1 1,-1 1-1,1 1 0,0-1 0,13-2 0,19-1-6769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51.992"/>
    </inkml:context>
    <inkml:brush xml:id="br0">
      <inkml:brushProperty name="width" value="0.35" units="cm"/>
      <inkml:brushProperty name="height" value="0.35" units="cm"/>
      <inkml:brushProperty name="color" value="#1B2A41"/>
    </inkml:brush>
  </inkml:definitions>
  <inkml:trace contextRef="#ctx0" brushRef="#br0">1 8 24575,'759'-7'0,"55"7"0,-1095-1 0,-293 3 0,570-3 0,1 1 0,0-1 0,0 1 0,0 0 0,-1 1 0,1-1 0,0 0 0,0 1 0,0 0 0,0 0 0,0 0 0,0 0 0,0 0 0,0 1 0,0-1 0,0 1 0,0 0 0,1-1 0,-1 1 0,1 1 0,0-1 0,-1 0 0,-2 5 0,2-4 0,0 0 0,0 0 0,0 0 0,0 0 0,-1 0 0,1-1 0,-1 0 0,0 0 0,0 0 0,1 0 0,-1 0 0,-1-1 0,-3 2 0,-57 4 0,53-7 0,-1 1 0,1 0 0,-18 5 0,29-6 0,0 0 0,0 0 0,0 1 0,0-1 0,-1 1 0,1-1 0,0 1 0,0-1 0,0 1 0,0 0 0,0-1 0,0 1 0,0 0 0,1 0 0,-1 0 0,0-1 0,0 1 0,0 0 0,1 0 0,-1 0 0,1 0 0,-1 1 0,1-1 0,-1 0 0,1 0 0,-1 0 0,1 0 0,0 0 0,0 1 0,0-1 0,0 0 0,0 0 0,0 0 0,0 1 0,0-1 0,1 2 0,-1 0 0,1-1 0,0 0 0,0 1 0,0-1 0,0 0 0,1 0 0,-1 0 0,1 0 0,-1 0 0,1 0 0,-1 0 0,1-1 0,0 1 0,0 0 0,0-1 0,0 0 0,3 2 0,16 6 0,1-1 0,0-1 0,1-1 0,0-1 0,-1-1 0,37 2 0,141-7 0,275-7 0,-356-5 0,-82 7 0,60-2 0,79 10 0,164-3 0,-250-14 0,-90 15 0,1 1 0,-1-1 0,0 0 0,1 0 0,-1 0 0,0 0 0,0 0 0,1 0 0,-1 0 0,0 0 0,0 0 0,1 0 0,-1 0 0,0 0 0,1 0 0,-1 0 0,0 0 0,0 0 0,1-1 0,-1 1 0,0 0 0,0 0 0,1 0 0,-1 0 0,0 0 0,0-1 0,1 1 0,-1 0 0,0 0 0,0 0 0,0-1 0,0 1 0,1 0 0,-1 0 0,0-1 0,0 1 0,0 0 0,0 0 0,0-1 0,0 1 0,0 0 0,0 0 0,0-1 0,1 1 0,-1 0 0,0 0 0,0-1 0,-1 1 0,-14-9 0,-28-2 0,-159-15 0,-41-8 0,235 31 0,8 1 0,18-2 0,28 1 0,261 10 0,-200 6 0,-89-9 0,0-1 0,0-1 0,1 0 0,-1-2 0,1 0 0,0-1 0,-1 0 0,36-9 0,-45 7 0,0 1 0,1 0 0,-1 1 0,0 0 0,1 0 0,-1 1 0,0 0 0,1 1 0,-1 0 0,0 1 0,1-1 0,-1 2 0,0-1 0,16 8 0,-15-7 0,-1-1 0,0 0 0,1 0 0,0-1 0,14 0 0,-15-1 0,-1 0 0,1 1 0,-1 0 0,1 0 0,-1 1 0,0 0 0,9 4 0,8 3 0,-23-9 0,0 1 0,1-1 0,-1 1 0,0 0 0,0 0 0,0 0 0,0 0 0,0 0 0,0 0 0,0 0 0,-1 1 0,1-1 0,0 0 0,-1 1 0,1 0 0,-1-1 0,1 1 0,-1 0 0,0 0 0,0 0 0,0 0 0,0 0 0,0 0 0,0 0 0,0 0 0,-1 0 0,1 5 0,3 6 0,-5-11 0,1-1 0,1 1 0,-1 0 0,0 0 0,0-1 0,1 1 0,-1 0 0,1 0 0,-1-1 0,1 1 0,0 0 0,0-1 0,-1 1 0,1-1 0,0 1 0,1-1 0,-1 1 0,0-1 0,0 0 0,0 0 0,1 0 0,-1 1 0,1-1 0,-1 0 0,1-1 0,-1 1 0,1 0 0,0 0 0,-1-1 0,1 1 0,0-1 0,0 1 0,-1-1 0,1 0 0,0 0 0,0 1 0,0-1 0,-1-1 0,1 1 0,0 0 0,0 0 0,2-1 0,77 8 0,-67-5 0,-1 1 0,0-2 0,0 0 0,1-1 0,-1 0 0,1-1 0,20-4 0,44-33 0,-76 37 0,0 1 0,0-1 0,0 0 0,0 0 0,0 0 0,0 0 0,-1 0 0,1-1 0,0 1 0,-1 0 0,1-1 0,-1 1 0,0-1 0,1 0 0,-1 0 0,0 1 0,0-1 0,0 0 0,0 0 0,0 0 0,-1 0 0,2-4 0,-2 6 0,0 0 0,0-1 0,0 1 0,0 0 0,1 0 0,-1 0 0,0-1 0,0 1 0,0 0 0,0 0 0,0 0 0,1-1 0,-1 1 0,0 0 0,0 0 0,0 0 0,0 0 0,1 0 0,-1-1 0,0 1 0,0 0 0,0 0 0,1 0 0,-1 0 0,0 0 0,0 0 0,1 0 0,-1 0 0,0 0 0,0 0 0,1 0 0,-1 0 0,0 0 0,0 0 0,0 0 0,1 0 0,-1 0 0,0 0 0,0 0 0,1 0 0,-1 0 0,0 0 0,0 1 0,0-1 0,1 0 0,-1 0 0,0 0 0,13 14 0,6 17 0,-1 4 0,-15-29 0,1 0 0,-1 0 0,0 1 0,-1-1 0,1 1 0,-1-1 0,0 1 0,-1 0 0,0 0 0,0 0 0,0 7 0,-1-11 0,0 0 0,0-1 0,0 1 0,0 0 0,0-1 0,0 1 0,-1-1 0,1 1 0,-1 0 0,0-1 0,0 1 0,0-1 0,0 0 0,-3 5 0,1-5 0,0 0 0,0 0 0,-1 0 0,1-1 0,0 0 0,-1 1 0,1-1 0,-1 0 0,0 0 0,-3 0 0,-24 3 0,0 0 0,0-2 0,-1-1 0,-39-4 0,30 1 0,-66 4 0,15 7 0,-1-3 0,-94-8 0,40-17 0,90 9 0,-67-1 0,-525 12 0,147 5 0,298 7 0,144-13-1365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7:54.498"/>
    </inkml:context>
    <inkml:brush xml:id="br0">
      <inkml:brushProperty name="width" value="0.35" units="cm"/>
      <inkml:brushProperty name="height" value="0.35" units="cm"/>
      <inkml:brushProperty name="color" value="#1B2A41"/>
    </inkml:brush>
  </inkml:definitions>
  <inkml:trace contextRef="#ctx0" brushRef="#br0">69 109 24575,'3'1'0,"1"0"0,0 0 0,0 0 0,-1 1 0,1-1 0,-1 1 0,1 0 0,-1 0 0,0 0 0,0 0 0,0 1 0,0 0 0,0-1 0,3 5 0,36 43 0,-41-49 0,7 10 0,10 12 0,26 43 0,-40-58 0,0 0 0,-1 0 0,1 0 0,-2 1 0,1-1 0,-1 1 0,0-1 0,-1 1 0,0 0 0,0 9 0,-1-15 0,0 0 0,0 0 0,0 0 0,0 0 0,-1 0 0,1 0 0,-1 1 0,0-2 0,0 1 0,0 0 0,0 0 0,0 0 0,-1 0 0,1-1 0,-1 1 0,0 0 0,0-1 0,-2 3 0,2-4 0,-1 0 0,1 0 0,-1 0 0,1 0 0,-1-1 0,1 1 0,-1-1 0,0 1 0,1-1 0,-1 0 0,1 0 0,-1 0 0,0-1 0,1 1 0,-1 0 0,0-1 0,1 0 0,-1 0 0,1 1 0,0-2 0,-5-1 0,1 1 0,-8-4 0,0 0 0,-25-16 0,35 20 0,1-1 0,-1 0 0,1 1 0,0-1 0,0 0 0,0 0 0,0-1 0,1 1 0,-1-1 0,1 1 0,0-1 0,0 0 0,0 0 0,1 0 0,-3-6 0,-52-202 0,54 206 0,0 0 0,1-1 0,0 1 0,0 0 0,0-1 0,0 1 0,1-1 0,0 1 0,1-1 0,1-9 0,-1 13 0,0 0 0,0 0 0,1 1 0,-1-1 0,1 0 0,-1 0 0,1 1 0,0-1 0,0 1 0,0-1 0,1 1 0,-1 0 0,0 0 0,1 0 0,0 0 0,-1 0 0,1 1 0,0-1 0,0 1 0,0 0 0,0 0 0,4-2 0,30-7-1365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03.181"/>
    </inkml:context>
    <inkml:brush xml:id="br0">
      <inkml:brushProperty name="width" value="0.35" units="cm"/>
      <inkml:brushProperty name="height" value="0.35" units="cm"/>
      <inkml:brushProperty name="color" value="#1B2A41"/>
    </inkml:brush>
  </inkml:definitions>
  <inkml:trace contextRef="#ctx0" brushRef="#br0">0 188 24575,'26'-6'0,"0"1"0,-1 2 0,1 0 0,1 2 0,48 3 0,-11 0 0,1954-1 0,-2001-2 0,0-1 0,0 0 0,0-1 0,0-1 0,32-11 0,77-41 0,-92 39 0,-33 16 0,1 0 0,-1 0 0,1 0 0,-1-1 0,0 1 0,0 0 0,0-1 0,0 1 0,0-1 0,0 1 0,0-1 0,0 0 0,-1 1 0,1-1 0,0 0 0,-1 1 0,0-1 0,1 0 0,-1 0 0,0 0 0,0 1 0,0-1 0,0 0 0,0 0 0,0 0 0,-1 0 0,1 1 0,-1-1 0,1 0 0,-1 1 0,1-1 0,-1 0 0,0 1 0,0-1 0,0 1 0,0-1 0,0 1 0,0-1 0,-1 1 0,1 0 0,0-1 0,-1 1 0,1 0 0,-1 0 0,1 0 0,-1 0 0,1 0 0,-1 1 0,0-1 0,1 0 0,-4 0 0,4 1 0,1 0 0,-1 1 0,0-1 0,1 0 0,-1 1 0,1-1 0,-1 0 0,1 1 0,-1-1 0,1 0 0,-1 1 0,1-1 0,-1 1 0,1-1 0,0 1 0,-1-1 0,1 1 0,-1-1 0,1 1 0,0 0 0,0-1 0,-1 1 0,1-1 0,0 1 0,0 0 0,0-1 0,0 1 0,0 0 0,0-1 0,0 1 0,0 0 0,0-1 0,0 1 0,0-1 0,0 1 0,0 0 0,1-1 0,-1 1 0,0-1 0,0 1 0,1 0 0,-1-1 0,1 2 0,12 27 0,2-8 0,2 0 0,0-2 0,1 0 0,1-1 0,0-1 0,23 15 0,-23-19 0,-1 1 0,-1 1 0,0 0 0,-1 1 0,-1 1 0,0 0 0,-2 1 0,22 35 0,-34-51 0,0 0 0,0 1 0,0-1 0,0 0 0,0 0 0,0 1 0,0-1 0,-1 0 0,1 1 0,-1-1 0,0 1 0,0-1 0,0 1 0,0-1 0,0 0 0,0 1 0,-1-1 0,0 5 0,-1-6 0,0 1 0,1 0 0,-1-1 0,0 1 0,0-1 0,0 1 0,0-1 0,-1 0 0,1 0 0,0 0 0,0 0 0,-1-1 0,1 1 0,0 0 0,-1-1 0,1 0 0,-1 1 0,1-1 0,-4 0 0,-230 2 0,123-4 0,-198-5 0,134-6 0,-110 11 0,-249 7 0,244 29 0,197-18 0,-150 5 0,-236-22 0,473 0-195,0 1 0,0-1 0,0 0 0,0-1 0,1 0 0,-11-4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08.644"/>
    </inkml:context>
    <inkml:brush xml:id="br0">
      <inkml:brushProperty name="width" value="0.35" units="cm"/>
      <inkml:brushProperty name="height" value="0.35" units="cm"/>
      <inkml:brushProperty name="color" value="#1B2A41"/>
    </inkml:brush>
  </inkml:definitions>
  <inkml:trace contextRef="#ctx0" brushRef="#br0">2801 1 24575,'0'0'0,"1"0"0,-1 0 0,1 0 0,0 0 0,-1 0 0,1 0 0,-1 0 0,1 0 0,0 0 0,-1 0 0,1 0 0,-1 0 0,1 1 0,-1-1 0,1 0 0,-1 0 0,1 1 0,-1-1 0,1 0 0,-1 1 0,1-1 0,-1 1 0,1-1 0,-1 1 0,1-1 0,-1 0 0,0 1 0,1-1 0,-1 1 0,0 0 0,0-1 0,1 1 0,-1-1 0,0 1 0,0-1 0,0 1 0,0 0 0,0-1 0,0 1 0,0 0 0,12 31 0,-11-30 0,0 0 0,21 64 0,-2 1 0,-3 0 0,12 101 0,-23-122 0,-4-35 0,0-1 0,0 1 0,-1 0 0,-1 0 0,0 0 0,0 0 0,-1 0 0,0 0 0,-1 0 0,-3 11 0,2-17 0,-1-1 0,1 1 0,-1-1 0,0 1 0,0-1 0,0 0 0,-1 0 0,1-1 0,-1 1 0,0-1 0,0 0 0,0-1 0,0 1 0,-10 2 0,2 0 0,0 0 0,0-2 0,-1 1 0,-27 1 0,34-4 0,1-1 0,-1 0 0,1 0 0,0 0 0,-1-1 0,1 0 0,0-1 0,-1 1 0,1-1 0,0 0 0,0-1 0,1 1 0,-1-1 0,0-1 0,1 1 0,0-1 0,-1 1 0,2-2 0,-1 1 0,0 0 0,1-1 0,0 0 0,0 0 0,0 0 0,1-1 0,-1 1 0,1-1 0,1 0 0,-1 0 0,1 0 0,0 0 0,0 0 0,1 0 0,0 0 0,-1-13 0,1 0 0,0-1 0,2 1 0,2-20 0,-1 17 0,0 1 0,-3-24 0,1 44 0,0 0 0,0-1 0,-1 1 0,1-1 0,-1 1 0,1 0 0,-1-1 0,1 1 0,-1 0 0,0 0 0,0-1 0,1 1 0,-1 0 0,0 0 0,0 0 0,0 0 0,0 0 0,-1 0 0,1 0 0,0 1 0,0-1 0,0 0 0,-1 1 0,1-1 0,0 0 0,-1 1 0,1 0 0,0-1 0,-1 1 0,1 0 0,-1 0 0,1 0 0,-1 0 0,1 0 0,0 0 0,-1 0 0,1 0 0,-1 0 0,-1 1 0,-10 1 0,-1 1 0,0 1 0,-17 6 0,6-2 0,-42 8 0,-1-4 0,0-2 0,-115 1 0,-183-11 0,208 14 0,107-14 0,-7-1 0,-107 13 0,98-5 0,-1-3 0,-77-5 0,49 0 0,-41 1 0,0-6 0,0-5 0,-145-32 0,257 39 0,-1 0 0,0 2 0,1 1 0,-49 5 0,73-4 0,0 0 0,0 0 0,0 0 0,0 0 0,0 0 0,0 0 0,0 0 0,0 1 0,0-1 0,0 0 0,0 1 0,0-1 0,0 0 0,0 1 0,1-1 0,-1 1 0,0 0 0,0-1 0,0 1 0,1 0 0,-1-1 0,0 1 0,1 0 0,-1 0 0,1 0 0,-1-1 0,1 1 0,-1 0 0,1 0 0,-1 2 0,1-1 0,0 1 0,0-1 0,0 0 0,1 1 0,-1-1 0,1 0 0,0 1 0,0-1 0,0 0 0,0 0 0,0 0 0,2 4 0,5 5 0,1 1 0,0-1 0,12 12 0,14 6 0,2-1 0,1-1 0,1-3 0,60 29 0,-75-40 0,-11-7 0,0-1 0,0 0 0,1-1 0,0 0 0,0-1 0,0 0 0,20 0 0,105-4 0,-60-1 0,254-1 0,386 8 0,-517 19 0,-64-4 0,-117-19 0,1-1 0,-1-1 0,0-1 0,39-9 0,-34 6 0,0 1 0,41-1 0,-16 7-53,-34 0-166,1-1 1,-1 0-1,0-2 0,1 0 1,29-6-1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30.034"/>
    </inkml:context>
    <inkml:brush xml:id="br0">
      <inkml:brushProperty name="width" value="0.35" units="cm"/>
      <inkml:brushProperty name="height" value="0.35" units="cm"/>
      <inkml:brushProperty name="color" value="#1B2A41"/>
    </inkml:brush>
  </inkml:definitions>
  <inkml:trace contextRef="#ctx0" brushRef="#br0">2224 1 24575,'21'39'0,"3"-1"0,34 44 0,-53-76 0,0 0 0,0 0 0,0 0 0,0 0 0,-1 1 0,0 0 0,0 0 0,0 0 0,-1 0 0,0 1 0,-1-1 0,1 1 0,-2 0 0,1 0 0,0 12 0,1 13 0,10 52 0,-3-24 0,9 5 0,-15-56 0,0-1 0,-1 1 0,-1 0 0,1 0 0,-1 1 0,0 16 0,-1-24 0,-1 0 0,0 0 0,0 0 0,0 1 0,-1-1 0,1 0 0,-1 0 0,0 0 0,0 0 0,0 0 0,0 0 0,0 0 0,0 0 0,-1-1 0,0 1 0,-2 3 0,2-4 0,-1-1 0,0 1 0,0 0 0,0-1 0,-1 0 0,1 0 0,0 0 0,0 0 0,-1 0 0,1 0 0,0-1 0,-1 0 0,1 0 0,0 0 0,-5 0 0,-1365-2 0,1137-5 0,195 5 0,-74-13 0,7 0 0,67 11 0,-126-6 0,122 10 0,0-2 0,0-2 0,-61-13 0,103 16 0,0 0 0,0 0 0,0-1 0,0 1 0,0-1 0,0 0 0,0 0 0,0 0 0,1 0 0,-1 0 0,1-1 0,0 1 0,-1-1 0,1 1 0,0-1 0,1 0 0,-1 0 0,0 0 0,1 0 0,-1 0 0,1 0 0,0 0 0,0-1 0,1 1 0,-1 0 0,0 0 0,1-1 0,0-5 0,0 2 0,0 0 0,0 1 0,1-1 0,0 0 0,0 0 0,0 1 0,1-1 0,0 1 0,0-1 0,1 1 0,0 0 0,0 0 0,5-7 0,-3 8 0,0 0 0,0 0 0,1 0 0,-1 1 0,1 0 0,0 0 0,0 0 0,1 1 0,-1 0 0,1 0 0,-1 1 0,1 0 0,0 0 0,0 0 0,8 0 0,14-1 0,1 0 0,39 4 0,-36-1 0,437 31 0,-380-22 0,245-5 0,-177-7 0,-5 4 0,158-2 0,-291-2 23,-1 0 1,1-1-1,-1-1 0,27-11 0,30-7-1504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36.077"/>
    </inkml:context>
    <inkml:brush xml:id="br0">
      <inkml:brushProperty name="width" value="0.35" units="cm"/>
      <inkml:brushProperty name="height" value="0.35" units="cm"/>
      <inkml:brushProperty name="color" value="#1B2A41"/>
    </inkml:brush>
  </inkml:definitions>
  <inkml:trace contextRef="#ctx0" brushRef="#br0">208 197 24575,'17'-1'0,"0"-2"0,-1 0 0,1 0 0,31-13 0,8-1 0,92-23 0,-74 18 0,2 2 0,0 5 0,1 2 0,82-2 0,-89 15 0,138-7 0,156 1 0,-206 9 0,58-1 0,220-4 0,-193-12 0,-146 12 0,-40 0 0,111 10 0,-160-8 0,0 2 0,0-1 0,-1 1 0,1 0 0,0 1 0,-1 0 0,1 0 0,-1 1 0,12 7 0,-15-7 0,0-1 0,-1 1 0,1 0 0,-1 0 0,0 0 0,0 1 0,0-1 0,0 1 0,-1-1 0,0 1 0,0 0 0,0 0 0,0 0 0,-1 0 0,1 11 0,15 71 0,-9-55 0,-2 1 0,-1 0 0,-2 0 0,-1 58 0,-3-89 0,1 1 0,-1 0 0,0 0 0,0 0 0,0-1 0,0 1 0,-1-1 0,1 1 0,-1-1 0,1 1 0,-1-1 0,0 0 0,0 0 0,0 0 0,0 0 0,0 0 0,0 0 0,-1 0 0,1-1 0,-1 1 0,1-1 0,-1 0 0,0 0 0,1 0 0,-1 0 0,0 0 0,0 0 0,0-1 0,-4 1 0,-12 1 0,-1 0 0,1-1 0,-28-3 0,19 1 0,-19-2 0,-88-17 0,40 4 0,-32 10 0,19 2 0,-465-14 0,456 18 0,-19-10 0,-6 0 0,-64 11 0,-920-2 0,1102 0-226,-1-2 0,1-1 0,0-1 0,-43-15 0,61 19-9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41.709"/>
    </inkml:context>
    <inkml:brush xml:id="br0">
      <inkml:brushProperty name="width" value="0.35" units="cm"/>
      <inkml:brushProperty name="height" value="0.35" units="cm"/>
      <inkml:brushProperty name="color" value="#1B2A41"/>
    </inkml:brush>
  </inkml:definitions>
  <inkml:trace contextRef="#ctx0" brushRef="#br0">0 200 24575,'142'-45'0,"2"6"0,243-32 0,107 47 0,-178 15 0,483-2 0,-543 12 0,-225 1 0,0 1 0,-1 2 0,0 1 0,0 2 0,32 12 0,22 5 0,-43-13 0,-1 3 0,0 1 0,-1 2 0,-1 2 0,46 32 0,-78-48 0,0 0 0,0 1 0,-1-1 0,0 1 0,0 0 0,0 1 0,0-1 0,-1 1 0,0 0 0,0 0 0,-1 0 0,1 1 0,-1 0 0,-1-1 0,4 10 0,-3 4 0,1 0 0,-2 0 0,-1 0 0,-1 22 0,1 14 0,0-38 0,0-15 0,-1-1 0,1 1 0,-1 0 0,0 0 0,0-1 0,-1 1 0,1 0 0,0-1 0,-1 1 0,-1 4 0,1-5 0,-1 0 0,1 0 0,-1-1 0,0 1 0,0-1 0,1 1 0,-1-1 0,0 0 0,0 0 0,0 0 0,-1 0 0,1 0 0,0 0 0,0-1 0,0 1 0,-4 0 0,-46 8 0,-1-1 0,0-4 0,0-1 0,-82-7 0,14 1 0,-1271 4 0,1225 12 0,156-13 0,0 0 0,0-1 0,0-1 0,0 0 0,0 0 0,0-1 0,0 0 0,-10-6 0,-11 0 0,0 1 0,0 1 0,-1 1 0,0 3 0,0 0 0,-37 3 0,42-1 0,-86-4 0,-170-29 0,283 34 0,-1 0 0,1 0 0,-1 0 0,1-1 0,-1 1 0,1-1 0,0 1 0,-1-1 0,1 1 0,-1-1 0,1 0 0,0 0 0,0 1 0,-1-1 0,1 0 0,0 0 0,0 0 0,0 0 0,0-1 0,-2-1 0,3 2 0,0-1 0,0 1 0,0 0 0,0 0 0,0 0 0,0-1 0,0 1 0,0 0 0,0 0 0,0 0 0,1-1 0,-1 1 0,0 0 0,1 0 0,-1 0 0,1 0 0,-1 0 0,1 0 0,0 0 0,0-1 0,3-3 0,1 0 0,-1 0 0,1 1 0,0 0 0,0 0 0,0 0 0,0 0 0,9-3 0,13-2 0,-1 1 0,1 2 0,1 1 0,-1 1 0,1 1 0,44 1 0,-27 0 0,580-3 0,-141 5 0,-474-1 0,0-1 0,-1 1 0,1-2 0,-1 1 0,0-1 0,14-7 0,-12 6 0,0-1 0,1 2 0,20-5 0,161-31 0,-148 33 0,1 2 0,-1 2 0,63 6 0,-5-1 0,169-3-1365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46.980"/>
    </inkml:context>
    <inkml:brush xml:id="br0">
      <inkml:brushProperty name="width" value="0.35" units="cm"/>
      <inkml:brushProperty name="height" value="0.35" units="cm"/>
      <inkml:brushProperty name="color" value="#1B2A41"/>
    </inkml:brush>
  </inkml:definitions>
  <inkml:trace contextRef="#ctx0" brushRef="#br0">107 233 24575,'43'-16'0,"60"7"0,178 5 0,-153 6 0,254-1 0,382-1 0,-488-14 0,-235 11 0,52-12 0,22-1 0,-39 4 0,-54 7 0,-1 1 0,33-1 0,-30 5 0,0-1 0,0-1 0,-1-1 0,1-2 0,-1 0 0,32-12 0,-32 11 0,1 0 0,1 1 0,-1 2 0,32-1 0,20-4 0,-40 4 0,-1-3 0,0-1 0,0-1 0,-1-2 0,35-16 0,-68 26 0,-1 1 0,1 0 0,-1 0 0,1 0 0,-1 0 0,1 0 0,-1 0 0,1 0 0,-1 0 0,1 0 0,-1 0 0,1 0 0,-1 0 0,1 1 0,-1-1 0,1 0 0,-1 0 0,1 0 0,-1 1 0,1-1 0,-1 0 0,1 1 0,-1-1 0,0 0 0,1 1 0,-1-1 0,0 0 0,1 1 0,-1-1 0,0 1 0,0-1 0,1 1 0,-1-1 0,0 1 0,0-1 0,0 1 0,1-1 0,-1 1 0,0-1 0,0 1 0,0-1 0,0 1 0,0-1 0,0 1 0,0 0 0,3 35 0,-2-21 0,23 85 0,-15-69 0,-2 0 0,-1 1 0,3 45 0,-5-50 0,-4-24 0,1 0 0,0 0 0,-1 0 0,0 0 0,0 0 0,0 0 0,0 0 0,0 0 0,-1 5 0,0-7 0,0 1 0,0-1 0,0 0 0,1 0 0,-1 1 0,-1-1 0,1 0 0,0 0 0,0 0 0,0 0 0,-1 0 0,1-1 0,0 1 0,-1 0 0,1-1 0,-1 1 0,1 0 0,0-1 0,-1 0 0,0 1 0,1-1 0,-1 0 0,1 0 0,-3 0 0,-70 5 0,-117-6 0,60-2 0,53 7 0,1 3 0,-108 25 0,151-25 0,-28 1 0,-1-3 0,0-3 0,-64-5 0,10 0 0,-304 2 0,-643 2 0,1001 3 0,-113 23 0,107-14 0,-78 4 0,129-16-105,16 0 60,-1 0 0,1-1 0,0 1 0,0-1 0,0 0 0,-1 0 0,1 0 0,0 0 0,-1 0 0,1 0 0,0 0 0,0-1 0,-1 1 0,1-1 0,0 0 0,0 1 0,0-1 0,0 0 0,0 0 0,0-1 0,0 1 0,0 0 0,0-1 0,1 1 0,-1-1 0,1 1 0,-3-4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8T08:08:51.977"/>
    </inkml:context>
    <inkml:brush xml:id="br0">
      <inkml:brushProperty name="width" value="0.35" units="cm"/>
      <inkml:brushProperty name="height" value="0.35" units="cm"/>
      <inkml:brushProperty name="color" value="#1B2A41"/>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06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evaluation panel. Today I am presenting FocusLens, a research-driven, privacy-first system bridging computer vision analysis and cognitive state optimization. This phase is research-focused, so we deep-dive into the core AI/ML architecture and technical workflows without a hardware prototype.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knowledge work suffers from context-switching and diminishing attention spans. Traditional tools use static timers that ignore fatigue or mental blocks. FocusLens turns blind clocks into cognitively aware assistants using non-invasive webcam streams.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applications fall into siloed traps. Time trackers show what application was open, not whether you were staring blankly at it. Wearables capture heart rate but lack task context. FocusLens blends real-time computer vision inference with local contextual work logs.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FocusLens runs as a lightweight, opt-in agent evaluating attention patterns. It translates raw facial vectors into an aggregate Focus Score, shifting time management from the user to the system. The dashboard shows peak focus windows so high-cognition tasks align with real peaks.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technical differentiator. Webcam frames go into MediaPipe Face Mesh to map landmarks; Eye Aspect Ratio and gaze vectors then feed a time-series LSTM. Raw frames are dropped from RAM immediately after landmark mapping, guaranteeing data privacy.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one work session. It begins with calibration and consent. Multi-modal features flow into the local evaluation stack, and when attention dips below target the system fires a contextual nudge, such as suggesting a walk. The cycle ends with user-directed refinement on the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FocusLens expands deep-work metrics and stops exhaustion early, but good research requires transparency about limits. Vision models are sensitive to lighting and individual differences. We position the system as an office optimization utility, not a clinical health tool.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anchor the landmark, blink, sequence-modeling and affective components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B2A4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B2A41"/>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customXml" Target="../ink/ink4.xml"/><Relationship Id="rId4" Type="http://schemas.openxmlformats.org/officeDocument/2006/relationships/image" Target="../media/image30.png"/></Relationships>
</file>

<file path=ppt/slides/_rels/slide3.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customXml" Target="../ink/ink1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780" y="1219200"/>
            <a:ext cx="6857828" cy="4419600"/>
          </a:xfrm>
          <a:prstGeom prst="roundRect">
            <a:avLst>
              <a:gd name="adj" fmla="val 1379"/>
            </a:avLst>
          </a:prstGeom>
          <a:solidFill>
            <a:srgbClr val="1B2A41"/>
          </a:solidFill>
          <a:ln w="12700">
            <a:solidFill>
              <a:srgbClr val="4CAF50"/>
            </a:solidFill>
            <a:prstDash val="solid"/>
          </a:ln>
        </p:spPr>
      </p:sp>
      <p:sp>
        <p:nvSpPr>
          <p:cNvPr id="3" name="Text 1"/>
          <p:cNvSpPr/>
          <p:nvPr/>
        </p:nvSpPr>
        <p:spPr>
          <a:xfrm>
            <a:off x="1231869" y="1587500"/>
            <a:ext cx="6629234"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PS1 RESEARCH PRESENTATION · COMPUTER VISION &amp; ML</a:t>
            </a:r>
            <a:endParaRPr lang="en-US" sz="1050" dirty="0"/>
          </a:p>
        </p:txBody>
      </p:sp>
      <p:sp>
        <p:nvSpPr>
          <p:cNvPr id="4" name="Text 2"/>
          <p:cNvSpPr/>
          <p:nvPr/>
        </p:nvSpPr>
        <p:spPr>
          <a:xfrm>
            <a:off x="1231869" y="1880810"/>
            <a:ext cx="6019649" cy="1424880"/>
          </a:xfrm>
          <a:prstGeom prst="rect">
            <a:avLst/>
          </a:prstGeom>
          <a:noFill/>
          <a:ln/>
        </p:spPr>
        <p:txBody>
          <a:bodyPr wrap="square" lIns="0" tIns="0" rIns="0" bIns="0" rtlCol="0" anchor="t">
            <a:normAutofit/>
          </a:bodyPr>
          <a:lstStyle/>
          <a:p>
            <a:pPr marL="0" indent="0" algn="l">
              <a:lnSpc>
                <a:spcPct val="92000"/>
              </a:lnSpc>
              <a:buNone/>
            </a:pPr>
            <a:r>
              <a:rPr lang="en-US" sz="3400" dirty="0">
                <a:solidFill>
                  <a:srgbClr val="4CAF50"/>
                </a:solidFill>
                <a:latin typeface="Jost" pitchFamily="34" charset="0"/>
                <a:ea typeface="Jost" pitchFamily="34" charset="-122"/>
                <a:cs typeface="Jost" pitchFamily="34" charset="-120"/>
              </a:rPr>
              <a:t>FocusLens (Our AI System)</a:t>
            </a:r>
            <a:endParaRPr lang="en-US" sz="3400" dirty="0"/>
          </a:p>
          <a:p>
            <a:pPr marL="0" indent="0" algn="l">
              <a:lnSpc>
                <a:spcPct val="92000"/>
              </a:lnSpc>
              <a:buNone/>
            </a:pPr>
            <a:r>
              <a:rPr lang="en-US" sz="2400" dirty="0">
                <a:solidFill>
                  <a:srgbClr val="FFFFFF"/>
                </a:solidFill>
                <a:latin typeface="Jost" pitchFamily="34" charset="0"/>
                <a:ea typeface="Jost" pitchFamily="34" charset="-122"/>
                <a:cs typeface="Jost" pitchFamily="34" charset="-120"/>
              </a:rPr>
              <a:t>AI-Powered Focus Monitoring &amp; Productivity Optimization</a:t>
            </a:r>
            <a:endParaRPr lang="en-US" sz="3400" dirty="0"/>
          </a:p>
        </p:txBody>
      </p:sp>
      <p:sp>
        <p:nvSpPr>
          <p:cNvPr id="5" name="Shape 3"/>
          <p:cNvSpPr/>
          <p:nvPr/>
        </p:nvSpPr>
        <p:spPr>
          <a:xfrm>
            <a:off x="1231869" y="3494286"/>
            <a:ext cx="1986310" cy="19050"/>
          </a:xfrm>
          <a:prstGeom prst="roundRect">
            <a:avLst>
              <a:gd name="adj" fmla="val 49999"/>
            </a:avLst>
          </a:prstGeom>
          <a:solidFill>
            <a:srgbClr val="4CAF50"/>
          </a:solidFill>
          <a:ln/>
        </p:spPr>
      </p:sp>
      <p:sp>
        <p:nvSpPr>
          <p:cNvPr id="6" name="Text 4"/>
          <p:cNvSpPr/>
          <p:nvPr/>
        </p:nvSpPr>
        <p:spPr>
          <a:xfrm>
            <a:off x="1231869" y="3716536"/>
            <a:ext cx="6629234"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Ashish Jha · Team CLASSIC SOLO</a:t>
            </a:r>
            <a:endParaRPr lang="en-US" sz="1100" dirty="0"/>
          </a:p>
        </p:txBody>
      </p:sp>
      <p:sp>
        <p:nvSpPr>
          <p:cNvPr id="7" name="Text 5"/>
          <p:cNvSpPr/>
          <p:nvPr/>
        </p:nvSpPr>
        <p:spPr>
          <a:xfrm>
            <a:off x="1231869" y="4070846"/>
            <a:ext cx="6629234" cy="186630"/>
          </a:xfrm>
          <a:prstGeom prst="rect">
            <a:avLst/>
          </a:prstGeom>
          <a:noFill/>
          <a:ln/>
        </p:spPr>
        <p:txBody>
          <a:bodyPr wrap="none" lIns="0" tIns="0" rIns="0" bIns="0" rtlCol="0" anchor="t"/>
          <a:lstStyle/>
          <a:p>
            <a:pPr marL="0" indent="0" algn="l">
              <a:lnSpc>
                <a:spcPct val="117000"/>
              </a:lnSpc>
              <a:buNone/>
            </a:pPr>
            <a:r>
              <a:rPr lang="en-US" sz="1050" dirty="0">
                <a:solidFill>
                  <a:srgbClr val="E0E1DD"/>
                </a:solidFill>
                <a:latin typeface="Bitter" pitchFamily="34" charset="0"/>
                <a:ea typeface="Bitter" pitchFamily="34" charset="-122"/>
                <a:cs typeface="Bitter" pitchFamily="34" charset="-120"/>
              </a:rPr>
              <a:t>On-Device Edge AI &amp; Gaze Telemetry for Real-Time Cognitive State Inference | Live Prototype</a:t>
            </a:r>
            <a:endParaRPr lang="en-US" sz="1050" dirty="0"/>
          </a:p>
        </p:txBody>
      </p:sp>
      <p:sp>
        <p:nvSpPr>
          <p:cNvPr id="11" name="Rectangle 10">
            <a:extLst>
              <a:ext uri="{FF2B5EF4-FFF2-40B4-BE49-F238E27FC236}">
                <a16:creationId xmlns:a16="http://schemas.microsoft.com/office/drawing/2014/main" id="{AAC10706-79EA-EC76-76F6-EBF6088CADFF}"/>
              </a:ext>
            </a:extLst>
          </p:cNvPr>
          <p:cNvSpPr/>
          <p:nvPr/>
        </p:nvSpPr>
        <p:spPr>
          <a:xfrm>
            <a:off x="11015132" y="6499754"/>
            <a:ext cx="1100667" cy="29633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DEBDE6A8-190C-90A9-FA8C-F9FBE4B63AB8}"/>
                  </a:ext>
                </a:extLst>
              </p14:cNvPr>
              <p14:cNvContentPartPr/>
              <p14:nvPr/>
            </p14:nvContentPartPr>
            <p14:xfrm>
              <a:off x="11275810" y="4226645"/>
              <a:ext cx="617040" cy="194760"/>
            </p14:xfrm>
          </p:contentPart>
        </mc:Choice>
        <mc:Fallback>
          <p:pic>
            <p:nvPicPr>
              <p:cNvPr id="8" name="Ink 7">
                <a:extLst>
                  <a:ext uri="{FF2B5EF4-FFF2-40B4-BE49-F238E27FC236}">
                    <a16:creationId xmlns:a16="http://schemas.microsoft.com/office/drawing/2014/main" id="{DEBDE6A8-190C-90A9-FA8C-F9FBE4B63AB8}"/>
                  </a:ext>
                </a:extLst>
              </p:cNvPr>
              <p:cNvPicPr/>
              <p:nvPr/>
            </p:nvPicPr>
            <p:blipFill>
              <a:blip r:embed="rId4"/>
              <a:stretch>
                <a:fillRect/>
              </a:stretch>
            </p:blipFill>
            <p:spPr>
              <a:xfrm>
                <a:off x="11269690" y="4220525"/>
                <a:ext cx="6292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B872ABE1-CB96-B6E6-E266-708176CAF565}"/>
                  </a:ext>
                </a:extLst>
              </p14:cNvPr>
              <p14:cNvContentPartPr/>
              <p14:nvPr/>
            </p14:nvContentPartPr>
            <p14:xfrm>
              <a:off x="11290210" y="4041605"/>
              <a:ext cx="557280" cy="628200"/>
            </p14:xfrm>
          </p:contentPart>
        </mc:Choice>
        <mc:Fallback>
          <p:pic>
            <p:nvPicPr>
              <p:cNvPr id="9" name="Ink 8">
                <a:extLst>
                  <a:ext uri="{FF2B5EF4-FFF2-40B4-BE49-F238E27FC236}">
                    <a16:creationId xmlns:a16="http://schemas.microsoft.com/office/drawing/2014/main" id="{B872ABE1-CB96-B6E6-E266-708176CAF565}"/>
                  </a:ext>
                </a:extLst>
              </p:cNvPr>
              <p:cNvPicPr/>
              <p:nvPr/>
            </p:nvPicPr>
            <p:blipFill>
              <a:blip r:embed="rId6"/>
              <a:stretch>
                <a:fillRect/>
              </a:stretch>
            </p:blipFill>
            <p:spPr>
              <a:xfrm>
                <a:off x="11227210" y="3978965"/>
                <a:ext cx="682920" cy="7538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77895" y="574117"/>
            <a:ext cx="1163290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01 · PROBLEM &amp; SYSTEM SCOPE</a:t>
            </a:r>
            <a:endParaRPr lang="en-US" sz="1050" dirty="0"/>
          </a:p>
        </p:txBody>
      </p:sp>
      <p:sp>
        <p:nvSpPr>
          <p:cNvPr id="3" name="Text 1"/>
          <p:cNvSpPr/>
          <p:nvPr/>
        </p:nvSpPr>
        <p:spPr>
          <a:xfrm>
            <a:off x="177895" y="864887"/>
            <a:ext cx="11074123"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Static productivity tools ignore how focus actually decays</a:t>
            </a:r>
            <a:endParaRPr lang="en-US" sz="3200" dirty="0"/>
          </a:p>
        </p:txBody>
      </p:sp>
      <p:sp>
        <p:nvSpPr>
          <p:cNvPr id="4" name="Text 2"/>
          <p:cNvSpPr/>
          <p:nvPr/>
        </p:nvSpPr>
        <p:spPr>
          <a:xfrm>
            <a:off x="177895" y="1458552"/>
            <a:ext cx="11632909"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Fixed timers operate blind to cognitive load and real fatigue.</a:t>
            </a:r>
            <a:endParaRPr lang="en-US" sz="1400" dirty="0"/>
          </a:p>
        </p:txBody>
      </p:sp>
      <p:sp>
        <p:nvSpPr>
          <p:cNvPr id="5" name="Shape 3"/>
          <p:cNvSpPr/>
          <p:nvPr/>
        </p:nvSpPr>
        <p:spPr>
          <a:xfrm>
            <a:off x="177895" y="1885193"/>
            <a:ext cx="5384665" cy="2675235"/>
          </a:xfrm>
          <a:prstGeom prst="roundRect">
            <a:avLst>
              <a:gd name="adj" fmla="val 2279"/>
            </a:avLst>
          </a:prstGeom>
          <a:solidFill>
            <a:srgbClr val="17102B"/>
          </a:solidFill>
          <a:ln w="12700">
            <a:solidFill>
              <a:srgbClr val="4A3670"/>
            </a:solidFill>
            <a:prstDash val="solid"/>
          </a:ln>
        </p:spPr>
      </p:sp>
      <p:sp>
        <p:nvSpPr>
          <p:cNvPr id="6" name="Shape 4"/>
          <p:cNvSpPr/>
          <p:nvPr/>
        </p:nvSpPr>
        <p:spPr>
          <a:xfrm>
            <a:off x="495387" y="2177293"/>
            <a:ext cx="1316005" cy="270173"/>
          </a:xfrm>
          <a:prstGeom prst="roundRect">
            <a:avLst>
              <a:gd name="adj" fmla="val 4231"/>
            </a:avLst>
          </a:prstGeom>
          <a:solidFill>
            <a:srgbClr val="1E1538"/>
          </a:solidFill>
          <a:ln/>
        </p:spPr>
      </p:sp>
      <p:sp>
        <p:nvSpPr>
          <p:cNvPr id="7" name="Text 5"/>
          <p:cNvSpPr/>
          <p:nvPr/>
        </p:nvSpPr>
        <p:spPr>
          <a:xfrm>
            <a:off x="602045" y="2234341"/>
            <a:ext cx="1712274"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CURRENT STATE</a:t>
            </a:r>
            <a:endParaRPr lang="en-US" sz="1100" dirty="0"/>
          </a:p>
        </p:txBody>
      </p:sp>
      <p:sp>
        <p:nvSpPr>
          <p:cNvPr id="8" name="Text 6"/>
          <p:cNvSpPr/>
          <p:nvPr/>
        </p:nvSpPr>
        <p:spPr>
          <a:xfrm>
            <a:off x="495387" y="2541128"/>
            <a:ext cx="4749681" cy="279400"/>
          </a:xfrm>
          <a:prstGeom prst="rect">
            <a:avLst/>
          </a:prstGeom>
          <a:noFill/>
          <a:ln/>
        </p:spPr>
        <p:txBody>
          <a:bodyPr wrap="none" lIns="0" tIns="0" rIns="0" bIns="0" rtlCol="0" anchor="t"/>
          <a:lstStyle/>
          <a:p>
            <a:pPr marL="0" indent="0" algn="l">
              <a:lnSpc>
                <a:spcPct val="92000"/>
              </a:lnSpc>
              <a:buNone/>
            </a:pPr>
            <a:r>
              <a:rPr lang="en-US" sz="2000" dirty="0">
                <a:solidFill>
                  <a:srgbClr val="FFC107"/>
                </a:solidFill>
                <a:latin typeface="Jost" pitchFamily="34" charset="0"/>
                <a:ea typeface="Jost" pitchFamily="34" charset="-122"/>
                <a:cs typeface="Jost" pitchFamily="34" charset="-120"/>
              </a:rPr>
              <a:t>Static &amp; Rule-Based</a:t>
            </a:r>
            <a:endParaRPr lang="en-US" sz="2000" dirty="0"/>
          </a:p>
        </p:txBody>
      </p:sp>
      <p:sp>
        <p:nvSpPr>
          <p:cNvPr id="9" name="Shape 7"/>
          <p:cNvSpPr/>
          <p:nvPr/>
        </p:nvSpPr>
        <p:spPr>
          <a:xfrm>
            <a:off x="495387" y="2971341"/>
            <a:ext cx="4749681" cy="19050"/>
          </a:xfrm>
          <a:prstGeom prst="roundRect">
            <a:avLst>
              <a:gd name="adj" fmla="val 49999"/>
            </a:avLst>
          </a:prstGeom>
          <a:solidFill>
            <a:srgbClr val="4A3670"/>
          </a:solidFill>
          <a:ln/>
        </p:spPr>
      </p:sp>
      <p:sp>
        <p:nvSpPr>
          <p:cNvPr id="10" name="Text 8"/>
          <p:cNvSpPr/>
          <p:nvPr/>
        </p:nvSpPr>
        <p:spPr>
          <a:xfrm>
            <a:off x="495387" y="3139616"/>
            <a:ext cx="4749681" cy="1128713"/>
          </a:xfrm>
          <a:prstGeom prst="rect">
            <a:avLst/>
          </a:prstGeom>
          <a:noFill/>
          <a:ln/>
        </p:spPr>
        <p:txBody>
          <a:bodyPr wrap="square" lIns="0" tIns="0" rIns="0" bIns="0" rtlCol="0" anchor="t">
            <a:normAutofit fontScale="92500" lnSpcReduction="1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Distractions erode uninterrupted deep work</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Fixed timers ignore mental fatigue</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Context switches break sustained concentration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Blind to fatigue; rigid Pomodoro timers disrupt deep flow states</a:t>
            </a:r>
            <a:endParaRPr lang="en-US" sz="1400" dirty="0"/>
          </a:p>
        </p:txBody>
      </p:sp>
      <p:sp>
        <p:nvSpPr>
          <p:cNvPr id="11" name="Shape 9"/>
          <p:cNvSpPr/>
          <p:nvPr/>
        </p:nvSpPr>
        <p:spPr>
          <a:xfrm>
            <a:off x="5867353" y="1885193"/>
            <a:ext cx="5722602" cy="2675235"/>
          </a:xfrm>
          <a:prstGeom prst="roundRect">
            <a:avLst>
              <a:gd name="adj" fmla="val 2279"/>
            </a:avLst>
          </a:prstGeom>
          <a:solidFill>
            <a:srgbClr val="17102B"/>
          </a:solidFill>
          <a:ln w="12700">
            <a:solidFill>
              <a:srgbClr val="4CAF50"/>
            </a:solidFill>
            <a:prstDash val="solid"/>
          </a:ln>
        </p:spPr>
      </p:sp>
      <p:sp>
        <p:nvSpPr>
          <p:cNvPr id="12" name="Shape 10"/>
          <p:cNvSpPr/>
          <p:nvPr/>
        </p:nvSpPr>
        <p:spPr>
          <a:xfrm>
            <a:off x="6184845" y="2177293"/>
            <a:ext cx="1258658" cy="270173"/>
          </a:xfrm>
          <a:prstGeom prst="roundRect">
            <a:avLst>
              <a:gd name="adj" fmla="val 4231"/>
            </a:avLst>
          </a:prstGeom>
          <a:solidFill>
            <a:srgbClr val="1E1538"/>
          </a:solidFill>
          <a:ln/>
        </p:spPr>
      </p:sp>
      <p:sp>
        <p:nvSpPr>
          <p:cNvPr id="13" name="Text 11"/>
          <p:cNvSpPr/>
          <p:nvPr/>
        </p:nvSpPr>
        <p:spPr>
          <a:xfrm>
            <a:off x="6291502" y="2234341"/>
            <a:ext cx="1654927"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DESIRED STATE</a:t>
            </a:r>
            <a:endParaRPr lang="en-US" sz="1100" dirty="0"/>
          </a:p>
        </p:txBody>
      </p:sp>
      <p:sp>
        <p:nvSpPr>
          <p:cNvPr id="14" name="Text 12"/>
          <p:cNvSpPr/>
          <p:nvPr/>
        </p:nvSpPr>
        <p:spPr>
          <a:xfrm>
            <a:off x="6184845" y="2541128"/>
            <a:ext cx="4749681" cy="279400"/>
          </a:xfrm>
          <a:prstGeom prst="rect">
            <a:avLst/>
          </a:prstGeom>
          <a:noFill/>
          <a:ln/>
        </p:spPr>
        <p:txBody>
          <a:bodyPr wrap="none" lIns="0" tIns="0" rIns="0" bIns="0" rtlCol="0" anchor="t"/>
          <a:lstStyle/>
          <a:p>
            <a:pPr marL="0" indent="0" algn="l">
              <a:lnSpc>
                <a:spcPct val="92000"/>
              </a:lnSpc>
              <a:buNone/>
            </a:pPr>
            <a:r>
              <a:rPr lang="en-US" sz="2000" dirty="0">
                <a:solidFill>
                  <a:srgbClr val="4CAF50"/>
                </a:solidFill>
                <a:latin typeface="Jost" pitchFamily="34" charset="0"/>
                <a:ea typeface="Jost" pitchFamily="34" charset="-122"/>
                <a:cs typeface="Jost" pitchFamily="34" charset="-120"/>
              </a:rPr>
              <a:t>Dynamic &amp; Adaptive (FocusLens (Our AI System))</a:t>
            </a:r>
            <a:endParaRPr lang="en-US" sz="2000" dirty="0"/>
          </a:p>
        </p:txBody>
      </p:sp>
      <p:sp>
        <p:nvSpPr>
          <p:cNvPr id="15" name="Shape 13"/>
          <p:cNvSpPr/>
          <p:nvPr/>
        </p:nvSpPr>
        <p:spPr>
          <a:xfrm>
            <a:off x="6184845" y="2971341"/>
            <a:ext cx="4749681" cy="19050"/>
          </a:xfrm>
          <a:prstGeom prst="roundRect">
            <a:avLst>
              <a:gd name="adj" fmla="val 49999"/>
            </a:avLst>
          </a:prstGeom>
          <a:solidFill>
            <a:srgbClr val="4CAF50"/>
          </a:solidFill>
          <a:ln/>
        </p:spPr>
      </p:sp>
      <p:sp>
        <p:nvSpPr>
          <p:cNvPr id="16" name="Text 14"/>
          <p:cNvSpPr/>
          <p:nvPr/>
        </p:nvSpPr>
        <p:spPr>
          <a:xfrm>
            <a:off x="6184845" y="3139616"/>
            <a:ext cx="4749681" cy="1128713"/>
          </a:xfrm>
          <a:prstGeom prst="rect">
            <a:avLst/>
          </a:prstGeom>
          <a:noFill/>
          <a:ln/>
        </p:spPr>
        <p:txBody>
          <a:bodyPr wrap="square" lIns="0" tIns="0" rIns="0" bIns="0" rtlCol="0" anchor="t">
            <a:normAutofit fontScale="85000" lnSpcReduction="2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Real-time focus &amp; PERCLOS fatigue inference via standard webcam</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Dynamic Flow Guardian: extends peak flow &amp; triggers micro-breaks on fatigue</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Predictive fatigue detection stops burnout</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Non-invasive, local computer vision models</a:t>
            </a:r>
            <a:endParaRPr lang="en-US" sz="1400" dirty="0"/>
          </a:p>
        </p:txBody>
      </p:sp>
      <p:sp>
        <p:nvSpPr>
          <p:cNvPr id="17" name="Text 15"/>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18" name="Text 16"/>
          <p:cNvSpPr/>
          <p:nvPr/>
        </p:nvSpPr>
        <p:spPr>
          <a:xfrm>
            <a:off x="11946135" y="6466086"/>
            <a:ext cx="245560"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2</a:t>
            </a:r>
            <a:endParaRPr lang="en-US" sz="1000" dirty="0"/>
          </a:p>
        </p:txBody>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303FAB71-E632-98E4-627B-D1B2DBAE435E}"/>
                  </a:ext>
                </a:extLst>
              </p14:cNvPr>
              <p14:cNvContentPartPr/>
              <p14:nvPr/>
            </p14:nvContentPartPr>
            <p14:xfrm>
              <a:off x="10456213" y="6514973"/>
              <a:ext cx="1044000" cy="249840"/>
            </p14:xfrm>
          </p:contentPart>
        </mc:Choice>
        <mc:Fallback xmlns="">
          <p:pic>
            <p:nvPicPr>
              <p:cNvPr id="23" name="Ink 22">
                <a:extLst>
                  <a:ext uri="{FF2B5EF4-FFF2-40B4-BE49-F238E27FC236}">
                    <a16:creationId xmlns:a16="http://schemas.microsoft.com/office/drawing/2014/main" id="{303FAB71-E632-98E4-627B-D1B2DBAE435E}"/>
                  </a:ext>
                </a:extLst>
              </p:cNvPr>
              <p:cNvPicPr/>
              <p:nvPr/>
            </p:nvPicPr>
            <p:blipFill>
              <a:blip r:embed="rId4"/>
              <a:stretch>
                <a:fillRect/>
              </a:stretch>
            </p:blipFill>
            <p:spPr>
              <a:xfrm>
                <a:off x="10447213" y="6506333"/>
                <a:ext cx="1061640" cy="267480"/>
              </a:xfrm>
              <a:prstGeom prst="rect">
                <a:avLst/>
              </a:prstGeom>
            </p:spPr>
          </p:pic>
        </mc:Fallback>
      </mc:AlternateContent>
      <p:grpSp>
        <p:nvGrpSpPr>
          <p:cNvPr id="26" name="Group 25">
            <a:extLst>
              <a:ext uri="{FF2B5EF4-FFF2-40B4-BE49-F238E27FC236}">
                <a16:creationId xmlns:a16="http://schemas.microsoft.com/office/drawing/2014/main" id="{ACB95A46-8DB5-8111-8F8F-03CE7B28A398}"/>
              </a:ext>
            </a:extLst>
          </p:cNvPr>
          <p:cNvGrpSpPr/>
          <p:nvPr/>
        </p:nvGrpSpPr>
        <p:grpSpPr>
          <a:xfrm>
            <a:off x="10910543" y="6483023"/>
            <a:ext cx="1153440" cy="280440"/>
            <a:chOff x="10910543" y="6483023"/>
            <a:chExt cx="1153440" cy="280440"/>
          </a:xfrm>
        </p:grpSpPr>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281282CC-F865-A355-8891-87E041B9DA70}"/>
                    </a:ext>
                  </a:extLst>
                </p14:cNvPr>
                <p14:cNvContentPartPr/>
                <p14:nvPr/>
              </p14:nvContentPartPr>
              <p14:xfrm>
                <a:off x="10910543" y="6624143"/>
                <a:ext cx="1153440" cy="139320"/>
              </p14:xfrm>
            </p:contentPart>
          </mc:Choice>
          <mc:Fallback xmlns="">
            <p:pic>
              <p:nvPicPr>
                <p:cNvPr id="24" name="Ink 23">
                  <a:extLst>
                    <a:ext uri="{FF2B5EF4-FFF2-40B4-BE49-F238E27FC236}">
                      <a16:creationId xmlns:a16="http://schemas.microsoft.com/office/drawing/2014/main" id="{281282CC-F865-A355-8891-87E041B9DA70}"/>
                    </a:ext>
                  </a:extLst>
                </p:cNvPr>
                <p:cNvPicPr/>
                <p:nvPr/>
              </p:nvPicPr>
              <p:blipFill>
                <a:blip r:embed="rId6"/>
                <a:stretch>
                  <a:fillRect/>
                </a:stretch>
              </p:blipFill>
              <p:spPr>
                <a:xfrm>
                  <a:off x="10847903" y="6561143"/>
                  <a:ext cx="12790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6887B2B1-0F2A-3AA1-AF3F-E212AAC701F0}"/>
                    </a:ext>
                  </a:extLst>
                </p14:cNvPr>
                <p14:cNvContentPartPr/>
                <p14:nvPr/>
              </p14:nvContentPartPr>
              <p14:xfrm>
                <a:off x="11895863" y="6483023"/>
                <a:ext cx="94680" cy="164880"/>
              </p14:xfrm>
            </p:contentPart>
          </mc:Choice>
          <mc:Fallback xmlns="">
            <p:pic>
              <p:nvPicPr>
                <p:cNvPr id="25" name="Ink 24">
                  <a:extLst>
                    <a:ext uri="{FF2B5EF4-FFF2-40B4-BE49-F238E27FC236}">
                      <a16:creationId xmlns:a16="http://schemas.microsoft.com/office/drawing/2014/main" id="{6887B2B1-0F2A-3AA1-AF3F-E212AAC701F0}"/>
                    </a:ext>
                  </a:extLst>
                </p:cNvPr>
                <p:cNvPicPr/>
                <p:nvPr/>
              </p:nvPicPr>
              <p:blipFill>
                <a:blip r:embed="rId8"/>
                <a:stretch>
                  <a:fillRect/>
                </a:stretch>
              </p:blipFill>
              <p:spPr>
                <a:xfrm>
                  <a:off x="11832863" y="6420383"/>
                  <a:ext cx="220320" cy="29052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77895" y="220223"/>
            <a:ext cx="11632909"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02 · COMPETITIVE LANDSCAPE</a:t>
            </a:r>
            <a:endParaRPr lang="en-US" sz="1050" dirty="0"/>
          </a:p>
        </p:txBody>
      </p:sp>
      <p:sp>
        <p:nvSpPr>
          <p:cNvPr id="3" name="Text 1"/>
          <p:cNvSpPr/>
          <p:nvPr/>
        </p:nvSpPr>
        <p:spPr>
          <a:xfrm>
            <a:off x="177895" y="510993"/>
            <a:ext cx="11074123"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Bridging the gap between dumb timers, invasive trackers, </a:t>
            </a:r>
          </a:p>
          <a:p>
            <a:pPr marL="0" indent="0" algn="l">
              <a:lnSpc>
                <a:spcPct val="92000"/>
              </a:lnSpc>
              <a:buNone/>
            </a:pPr>
            <a:r>
              <a:rPr lang="en-US" sz="3200" dirty="0">
                <a:solidFill>
                  <a:srgbClr val="F2EDFB"/>
                </a:solidFill>
                <a:latin typeface="Jost" pitchFamily="34" charset="0"/>
                <a:ea typeface="Jost" pitchFamily="34" charset="-122"/>
                <a:cs typeface="Jost" pitchFamily="34" charset="-120"/>
              </a:rPr>
              <a:t>and costly hardware</a:t>
            </a:r>
            <a:endParaRPr lang="en-US" sz="3200" dirty="0"/>
          </a:p>
        </p:txBody>
      </p:sp>
      <p:sp>
        <p:nvSpPr>
          <p:cNvPr id="4" name="Text 2"/>
          <p:cNvSpPr/>
          <p:nvPr/>
        </p:nvSpPr>
        <p:spPr>
          <a:xfrm>
            <a:off x="177895" y="1690664"/>
            <a:ext cx="11632909"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Current utilities address isolated signals while missing user cognitive context.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2511326685"/>
              </p:ext>
            </p:extLst>
          </p:nvPr>
        </p:nvGraphicFramePr>
        <p:xfrm>
          <a:off x="177895" y="2066504"/>
          <a:ext cx="11387572" cy="3100833"/>
        </p:xfrm>
        <a:graphic>
          <a:graphicData uri="http://schemas.openxmlformats.org/drawingml/2006/table">
            <a:tbl>
              <a:tblPr/>
              <a:tblGrid>
                <a:gridCol w="2701315">
                  <a:extLst>
                    <a:ext uri="{9D8B030D-6E8A-4147-A177-3AD203B41FA5}">
                      <a16:colId xmlns:a16="http://schemas.microsoft.com/office/drawing/2014/main" val="20000"/>
                    </a:ext>
                  </a:extLst>
                </a:gridCol>
                <a:gridCol w="2043378">
                  <a:extLst>
                    <a:ext uri="{9D8B030D-6E8A-4147-A177-3AD203B41FA5}">
                      <a16:colId xmlns:a16="http://schemas.microsoft.com/office/drawing/2014/main" val="20001"/>
                    </a:ext>
                  </a:extLst>
                </a:gridCol>
                <a:gridCol w="2171040">
                  <a:extLst>
                    <a:ext uri="{9D8B030D-6E8A-4147-A177-3AD203B41FA5}">
                      <a16:colId xmlns:a16="http://schemas.microsoft.com/office/drawing/2014/main" val="20002"/>
                    </a:ext>
                  </a:extLst>
                </a:gridCol>
                <a:gridCol w="2173246">
                  <a:extLst>
                    <a:ext uri="{9D8B030D-6E8A-4147-A177-3AD203B41FA5}">
                      <a16:colId xmlns:a16="http://schemas.microsoft.com/office/drawing/2014/main" val="20003"/>
                    </a:ext>
                  </a:extLst>
                </a:gridCol>
                <a:gridCol w="2298593">
                  <a:extLst>
                    <a:ext uri="{9D8B030D-6E8A-4147-A177-3AD203B41FA5}">
                      <a16:colId xmlns:a16="http://schemas.microsoft.com/office/drawing/2014/main" val="20004"/>
                    </a:ext>
                  </a:extLst>
                </a:gridCol>
              </a:tblGrid>
              <a:tr h="898888">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Capability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Time Trackers (Toggl)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Static Apps (Forest)</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Hardware (Tobii/EEG)</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4CAF50"/>
                          </a:solidFill>
                          <a:latin typeface="Bitter" pitchFamily="34" charset="0"/>
                          <a:ea typeface="Bitter" pitchFamily="34" charset="-122"/>
                          <a:cs typeface="Bitter" pitchFamily="34" charset="-120"/>
                        </a:rPr>
                        <a:t>FocusLens (Our AI System)</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0"/>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Cognitive State</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Partial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(Real-time)</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1"/>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Adaptive Nudges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Limited</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(Dynamic)</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2"/>
                  </a:ext>
                </a:extLst>
              </a:tr>
              <a:tr h="552695">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Context Awareness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App logs only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Site rules only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No</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(Integrated)</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3"/>
                  </a:ext>
                </a:extLst>
              </a:tr>
              <a:tr h="543860">
                <a:tc>
                  <a:txBody>
                    <a:bodyPr/>
                    <a:lstStyle/>
                    <a:p>
                      <a:pPr marL="0" indent="0" algn="l">
                        <a:buNone/>
                      </a:pPr>
                      <a:r>
                        <a:rPr lang="en-US" sz="1400" b="1" dirty="0">
                          <a:solidFill>
                            <a:srgbClr val="F2EDFB"/>
                          </a:solidFill>
                          <a:latin typeface="Bitter" pitchFamily="34" charset="0"/>
                          <a:ea typeface="Bitter" pitchFamily="34" charset="-122"/>
                          <a:cs typeface="Bitter" pitchFamily="34" charset="-120"/>
                        </a:rPr>
                        <a:t>On-Device Privacy</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Varies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Varies</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dirty="0">
                          <a:solidFill>
                            <a:srgbClr val="F2EDFB"/>
                          </a:solidFill>
                          <a:latin typeface="Bitter" pitchFamily="34" charset="0"/>
                          <a:ea typeface="Bitter" pitchFamily="34" charset="-122"/>
                          <a:cs typeface="Bitter" pitchFamily="34" charset="-120"/>
                        </a:rPr>
                        <a:t>Weak</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tcPr>
                </a:tc>
                <a:tc>
                  <a:txBody>
                    <a:bodyPr/>
                    <a:lstStyle/>
                    <a:p>
                      <a:pPr marL="0" indent="0" algn="l">
                        <a:buNone/>
                      </a:pPr>
                      <a:r>
                        <a:rPr lang="en-US" sz="1400" b="1" dirty="0">
                          <a:solidFill>
                            <a:srgbClr val="4CAF50"/>
                          </a:solidFill>
                          <a:latin typeface="Bitter" pitchFamily="34" charset="0"/>
                          <a:ea typeface="Bitter" pitchFamily="34" charset="-122"/>
                          <a:cs typeface="Bitter" pitchFamily="34" charset="-120"/>
                        </a:rPr>
                        <a:t>Yes (100% Local)</a:t>
                      </a:r>
                      <a:endParaRPr lang="en-US" sz="1400" dirty="0">
                        <a:latin typeface="Bitter" charset="0"/>
                        <a:ea typeface="Bitter" charset="0"/>
                        <a:cs typeface="Bitter" charset="0"/>
                      </a:endParaRPr>
                    </a:p>
                  </a:txBody>
                  <a:tcPr marL="133347" marR="133347" marT="71118" marB="71118" anchor="ctr">
                    <a:lnL w="12700" cap="flat" cmpd="sng" algn="ctr">
                      <a:solidFill>
                        <a:srgbClr val="525D6F"/>
                      </a:solidFill>
                      <a:prstDash val="solid"/>
                      <a:round/>
                      <a:headEnd type="none" w="med" len="med"/>
                      <a:tailEnd type="none" w="med" len="med"/>
                    </a:lnL>
                    <a:lnR w="12700" cap="flat" cmpd="sng" algn="ctr">
                      <a:solidFill>
                        <a:srgbClr val="525D6F"/>
                      </a:solidFill>
                      <a:prstDash val="solid"/>
                      <a:round/>
                      <a:headEnd type="none" w="med" len="med"/>
                      <a:tailEnd type="none" w="med" len="med"/>
                    </a:lnR>
                    <a:lnT w="12700" cap="flat" cmpd="sng" algn="ctr">
                      <a:solidFill>
                        <a:srgbClr val="525D6F"/>
                      </a:solidFill>
                      <a:prstDash val="solid"/>
                      <a:round/>
                      <a:headEnd type="none" w="med" len="med"/>
                      <a:tailEnd type="none" w="med" len="med"/>
                    </a:lnT>
                    <a:lnB w="12700" cap="flat" cmpd="sng" algn="ctr">
                      <a:solidFill>
                        <a:srgbClr val="525D6F"/>
                      </a:solidFill>
                      <a:prstDash val="solid"/>
                      <a:round/>
                      <a:headEnd type="none" w="med" len="med"/>
                      <a:tailEnd type="none" w="med" len="med"/>
                    </a:lnB>
                    <a:solidFill>
                      <a:srgbClr val="17102B"/>
                    </a:solidFill>
                  </a:tcPr>
                </a:tc>
                <a:extLst>
                  <a:ext uri="{0D108BD9-81ED-4DB2-BD59-A6C34878D82A}">
                    <a16:rowId xmlns:a16="http://schemas.microsoft.com/office/drawing/2014/main" val="10004"/>
                  </a:ext>
                </a:extLst>
              </a:tr>
            </a:tbl>
          </a:graphicData>
        </a:graphic>
      </p:graphicFrame>
      <p:sp>
        <p:nvSpPr>
          <p:cNvPr id="6" name="Text 3"/>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7" name="Text 4"/>
          <p:cNvSpPr/>
          <p:nvPr/>
        </p:nvSpPr>
        <p:spPr>
          <a:xfrm>
            <a:off x="11942960" y="6466086"/>
            <a:ext cx="248735"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3</a:t>
            </a:r>
            <a:endParaRPr lang="en-US" sz="1000" dirty="0"/>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21FD597C-04A9-E2AB-C702-2EBA2F310E73}"/>
                  </a:ext>
                </a:extLst>
              </p14:cNvPr>
              <p14:cNvContentPartPr/>
              <p14:nvPr/>
            </p14:nvContentPartPr>
            <p14:xfrm>
              <a:off x="11032223" y="6566543"/>
              <a:ext cx="1041480" cy="180000"/>
            </p14:xfrm>
          </p:contentPart>
        </mc:Choice>
        <mc:Fallback xmlns="">
          <p:pic>
            <p:nvPicPr>
              <p:cNvPr id="8" name="Ink 7">
                <a:extLst>
                  <a:ext uri="{FF2B5EF4-FFF2-40B4-BE49-F238E27FC236}">
                    <a16:creationId xmlns:a16="http://schemas.microsoft.com/office/drawing/2014/main" id="{21FD597C-04A9-E2AB-C702-2EBA2F310E73}"/>
                  </a:ext>
                </a:extLst>
              </p:cNvPr>
              <p:cNvPicPr/>
              <p:nvPr/>
            </p:nvPicPr>
            <p:blipFill>
              <a:blip r:embed="rId4"/>
              <a:stretch>
                <a:fillRect/>
              </a:stretch>
            </p:blipFill>
            <p:spPr>
              <a:xfrm>
                <a:off x="10969223" y="6503543"/>
                <a:ext cx="1167120" cy="3056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7895" y="589517"/>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03 · CORE ARCHITECTURE</a:t>
            </a:r>
            <a:endParaRPr lang="en-US" sz="1050" dirty="0"/>
          </a:p>
        </p:txBody>
      </p:sp>
      <p:sp>
        <p:nvSpPr>
          <p:cNvPr id="3" name="Text 1"/>
          <p:cNvSpPr/>
          <p:nvPr/>
        </p:nvSpPr>
        <p:spPr>
          <a:xfrm>
            <a:off x="177895" y="880288"/>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FocusLens (Our AI System) turns facial signals into a live Focus Score</a:t>
            </a:r>
            <a:endParaRPr lang="en-US" sz="3200" dirty="0"/>
          </a:p>
        </p:txBody>
      </p:sp>
      <p:sp>
        <p:nvSpPr>
          <p:cNvPr id="4" name="Text 2"/>
          <p:cNvSpPr/>
          <p:nvPr/>
        </p:nvSpPr>
        <p:spPr>
          <a:xfrm>
            <a:off x="177895" y="1473953"/>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A localized inference core continuously evaluates facial geometric dynamics.</a:t>
            </a:r>
            <a:endParaRPr lang="en-US" sz="1400" dirty="0"/>
          </a:p>
        </p:txBody>
      </p:sp>
      <p:sp>
        <p:nvSpPr>
          <p:cNvPr id="5" name="Shape 3"/>
          <p:cNvSpPr/>
          <p:nvPr/>
        </p:nvSpPr>
        <p:spPr>
          <a:xfrm>
            <a:off x="177895" y="1875194"/>
            <a:ext cx="3648976" cy="1447006"/>
          </a:xfrm>
          <a:prstGeom prst="roundRect">
            <a:avLst>
              <a:gd name="adj" fmla="val 4213"/>
            </a:avLst>
          </a:prstGeom>
          <a:solidFill>
            <a:srgbClr val="17102B"/>
          </a:solidFill>
          <a:ln w="12700">
            <a:solidFill>
              <a:srgbClr val="4A3670"/>
            </a:solidFill>
            <a:prstDash val="solid"/>
          </a:ln>
        </p:spPr>
      </p:sp>
      <p:sp>
        <p:nvSpPr>
          <p:cNvPr id="6" name="Text 4"/>
          <p:cNvSpPr/>
          <p:nvPr/>
        </p:nvSpPr>
        <p:spPr>
          <a:xfrm>
            <a:off x="393790" y="2091094"/>
            <a:ext cx="34330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01</a:t>
            </a:r>
            <a:endParaRPr lang="en-US" sz="1050" dirty="0"/>
          </a:p>
        </p:txBody>
      </p:sp>
      <p:sp>
        <p:nvSpPr>
          <p:cNvPr id="7" name="Text 5"/>
          <p:cNvSpPr/>
          <p:nvPr/>
        </p:nvSpPr>
        <p:spPr>
          <a:xfrm>
            <a:off x="393790" y="2367577"/>
            <a:ext cx="321718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Blink Dynamics (EAR)</a:t>
            </a:r>
            <a:endParaRPr lang="en-US" sz="1700" dirty="0"/>
          </a:p>
        </p:txBody>
      </p:sp>
      <p:sp>
        <p:nvSpPr>
          <p:cNvPr id="8" name="Text 6"/>
          <p:cNvSpPr/>
          <p:nvPr/>
        </p:nvSpPr>
        <p:spPr>
          <a:xfrm>
            <a:off x="393790" y="2715180"/>
            <a:ext cx="3217187"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EAR &amp; NASA PERCLOS metric: eyelid closure ratio over rolling windows.</a:t>
            </a:r>
            <a:endParaRPr lang="en-US" sz="1100" dirty="0"/>
          </a:p>
        </p:txBody>
      </p:sp>
      <p:sp>
        <p:nvSpPr>
          <p:cNvPr id="9" name="Shape 7"/>
          <p:cNvSpPr/>
          <p:nvPr/>
        </p:nvSpPr>
        <p:spPr>
          <a:xfrm>
            <a:off x="3979267" y="1875194"/>
            <a:ext cx="3572877" cy="1447006"/>
          </a:xfrm>
          <a:prstGeom prst="roundRect">
            <a:avLst>
              <a:gd name="adj" fmla="val 4213"/>
            </a:avLst>
          </a:prstGeom>
          <a:solidFill>
            <a:srgbClr val="17102B"/>
          </a:solidFill>
          <a:ln w="12700">
            <a:solidFill>
              <a:srgbClr val="4A3670"/>
            </a:solidFill>
            <a:prstDash val="solid"/>
          </a:ln>
        </p:spPr>
      </p:sp>
      <p:sp>
        <p:nvSpPr>
          <p:cNvPr id="10" name="Text 8"/>
          <p:cNvSpPr/>
          <p:nvPr/>
        </p:nvSpPr>
        <p:spPr>
          <a:xfrm>
            <a:off x="4195162" y="2091094"/>
            <a:ext cx="335698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02</a:t>
            </a:r>
            <a:endParaRPr lang="en-US" sz="1050" dirty="0"/>
          </a:p>
        </p:txBody>
      </p:sp>
      <p:sp>
        <p:nvSpPr>
          <p:cNvPr id="11" name="Text 9"/>
          <p:cNvSpPr/>
          <p:nvPr/>
        </p:nvSpPr>
        <p:spPr>
          <a:xfrm>
            <a:off x="4195162" y="2367577"/>
            <a:ext cx="3141088"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Gaze &amp; Fixation</a:t>
            </a:r>
            <a:endParaRPr lang="en-US" sz="1700" dirty="0"/>
          </a:p>
        </p:txBody>
      </p:sp>
      <p:sp>
        <p:nvSpPr>
          <p:cNvPr id="12" name="Text 10"/>
          <p:cNvSpPr/>
          <p:nvPr/>
        </p:nvSpPr>
        <p:spPr>
          <a:xfrm>
            <a:off x="4195162" y="2715180"/>
            <a:ext cx="3141088"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Mathematical Yaw Vectoring: normalized nose-to-eye center displacement.</a:t>
            </a:r>
            <a:endParaRPr lang="en-US" sz="1100" dirty="0"/>
          </a:p>
        </p:txBody>
      </p:sp>
      <p:sp>
        <p:nvSpPr>
          <p:cNvPr id="13" name="Shape 11"/>
          <p:cNvSpPr/>
          <p:nvPr/>
        </p:nvSpPr>
        <p:spPr>
          <a:xfrm>
            <a:off x="7704541" y="1875194"/>
            <a:ext cx="3649075" cy="1447006"/>
          </a:xfrm>
          <a:prstGeom prst="roundRect">
            <a:avLst>
              <a:gd name="adj" fmla="val 4213"/>
            </a:avLst>
          </a:prstGeom>
          <a:solidFill>
            <a:srgbClr val="17102B"/>
          </a:solidFill>
          <a:ln w="12700">
            <a:solidFill>
              <a:srgbClr val="4A3670"/>
            </a:solidFill>
            <a:prstDash val="solid"/>
          </a:ln>
        </p:spPr>
      </p:sp>
      <p:sp>
        <p:nvSpPr>
          <p:cNvPr id="14" name="Text 12"/>
          <p:cNvSpPr/>
          <p:nvPr/>
        </p:nvSpPr>
        <p:spPr>
          <a:xfrm>
            <a:off x="7920435" y="2091094"/>
            <a:ext cx="34331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SENSING VECTOR 03</a:t>
            </a:r>
            <a:endParaRPr lang="en-US" sz="1050" dirty="0"/>
          </a:p>
        </p:txBody>
      </p:sp>
      <p:sp>
        <p:nvSpPr>
          <p:cNvPr id="15" name="Text 13"/>
          <p:cNvSpPr/>
          <p:nvPr/>
        </p:nvSpPr>
        <p:spPr>
          <a:xfrm>
            <a:off x="7920435" y="2367577"/>
            <a:ext cx="3217286"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Head Pose Dynamics</a:t>
            </a:r>
            <a:endParaRPr lang="en-US" sz="1700" dirty="0"/>
          </a:p>
        </p:txBody>
      </p:sp>
      <p:sp>
        <p:nvSpPr>
          <p:cNvPr id="16" name="Text 14"/>
          <p:cNvSpPr/>
          <p:nvPr/>
        </p:nvSpPr>
        <p:spPr>
          <a:xfrm>
            <a:off x="7920435" y="2715180"/>
            <a:ext cx="34331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Pitch &amp; Yaw 3D vectors detect slouching, screen</a:t>
            </a:r>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 detachment &amp; phone glances.</a:t>
            </a:r>
            <a:endParaRPr lang="en-US" sz="1100" dirty="0"/>
          </a:p>
        </p:txBody>
      </p:sp>
      <p:sp>
        <p:nvSpPr>
          <p:cNvPr id="17" name="Shape 15"/>
          <p:cNvSpPr/>
          <p:nvPr/>
        </p:nvSpPr>
        <p:spPr>
          <a:xfrm>
            <a:off x="177895" y="3474600"/>
            <a:ext cx="3648976" cy="1447006"/>
          </a:xfrm>
          <a:prstGeom prst="roundRect">
            <a:avLst>
              <a:gd name="adj" fmla="val 4213"/>
            </a:avLst>
          </a:prstGeom>
          <a:solidFill>
            <a:srgbClr val="17102B"/>
          </a:solidFill>
          <a:ln w="12700">
            <a:solidFill>
              <a:srgbClr val="4A3670"/>
            </a:solidFill>
            <a:prstDash val="solid"/>
          </a:ln>
        </p:spPr>
      </p:sp>
      <p:sp>
        <p:nvSpPr>
          <p:cNvPr id="18" name="Text 16"/>
          <p:cNvSpPr/>
          <p:nvPr/>
        </p:nvSpPr>
        <p:spPr>
          <a:xfrm>
            <a:off x="393790" y="3690500"/>
            <a:ext cx="34330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FFC107"/>
                </a:solidFill>
                <a:latin typeface="Bitter" pitchFamily="34" charset="0"/>
                <a:ea typeface="Bitter" pitchFamily="34" charset="-122"/>
                <a:cs typeface="Bitter" pitchFamily="34" charset="-120"/>
              </a:rPr>
              <a:t>AFFECTIVE UNIT 04</a:t>
            </a:r>
            <a:endParaRPr lang="en-US" sz="1050" dirty="0"/>
          </a:p>
        </p:txBody>
      </p:sp>
      <p:sp>
        <p:nvSpPr>
          <p:cNvPr id="19" name="Text 17"/>
          <p:cNvSpPr/>
          <p:nvPr/>
        </p:nvSpPr>
        <p:spPr>
          <a:xfrm>
            <a:off x="393790" y="3966983"/>
            <a:ext cx="321718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Action Units (FACS)</a:t>
            </a:r>
            <a:endParaRPr lang="en-US" sz="1700" dirty="0"/>
          </a:p>
        </p:txBody>
      </p:sp>
      <p:sp>
        <p:nvSpPr>
          <p:cNvPr id="20" name="Text 18"/>
          <p:cNvSpPr/>
          <p:nvPr/>
        </p:nvSpPr>
        <p:spPr>
          <a:xfrm>
            <a:off x="393790" y="4314586"/>
            <a:ext cx="34330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Brow furrows and lip tightening capture strain.</a:t>
            </a:r>
            <a:endParaRPr lang="en-US" sz="1100" dirty="0"/>
          </a:p>
        </p:txBody>
      </p:sp>
      <p:sp>
        <p:nvSpPr>
          <p:cNvPr id="21" name="Shape 19"/>
          <p:cNvSpPr/>
          <p:nvPr/>
        </p:nvSpPr>
        <p:spPr>
          <a:xfrm>
            <a:off x="3979267" y="3474600"/>
            <a:ext cx="3572877" cy="1447006"/>
          </a:xfrm>
          <a:prstGeom prst="roundRect">
            <a:avLst>
              <a:gd name="adj" fmla="val 4213"/>
            </a:avLst>
          </a:prstGeom>
          <a:solidFill>
            <a:srgbClr val="17102B"/>
          </a:solidFill>
          <a:ln w="12700">
            <a:solidFill>
              <a:srgbClr val="4CAF50"/>
            </a:solidFill>
            <a:prstDash val="solid"/>
          </a:ln>
        </p:spPr>
      </p:sp>
      <p:sp>
        <p:nvSpPr>
          <p:cNvPr id="22" name="Text 20"/>
          <p:cNvSpPr/>
          <p:nvPr/>
        </p:nvSpPr>
        <p:spPr>
          <a:xfrm>
            <a:off x="4195162" y="3690500"/>
            <a:ext cx="3356982"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ENGINE CORE</a:t>
            </a:r>
            <a:endParaRPr lang="en-US" sz="1050" dirty="0"/>
          </a:p>
        </p:txBody>
      </p:sp>
      <p:sp>
        <p:nvSpPr>
          <p:cNvPr id="23" name="Text 21"/>
          <p:cNvSpPr/>
          <p:nvPr/>
        </p:nvSpPr>
        <p:spPr>
          <a:xfrm>
            <a:off x="4195162" y="3966983"/>
            <a:ext cx="3141088"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Live Score (0–100)</a:t>
            </a:r>
            <a:endParaRPr lang="en-US" sz="1700" dirty="0"/>
          </a:p>
        </p:txBody>
      </p:sp>
      <p:sp>
        <p:nvSpPr>
          <p:cNvPr id="24" name="Text 22"/>
          <p:cNvSpPr/>
          <p:nvPr/>
        </p:nvSpPr>
        <p:spPr>
          <a:xfrm>
            <a:off x="4195162" y="4314586"/>
            <a:ext cx="3141088"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4-State Cognitive Engine: Deep Focus, Mild Fatigue, Breach, Recovery.</a:t>
            </a:r>
            <a:endParaRPr lang="en-US" sz="1100" dirty="0"/>
          </a:p>
        </p:txBody>
      </p:sp>
      <p:sp>
        <p:nvSpPr>
          <p:cNvPr id="25" name="Shape 23"/>
          <p:cNvSpPr/>
          <p:nvPr/>
        </p:nvSpPr>
        <p:spPr>
          <a:xfrm>
            <a:off x="7704541" y="3474600"/>
            <a:ext cx="3649075" cy="1447006"/>
          </a:xfrm>
          <a:prstGeom prst="roundRect">
            <a:avLst>
              <a:gd name="adj" fmla="val 4213"/>
            </a:avLst>
          </a:prstGeom>
          <a:solidFill>
            <a:srgbClr val="17102B"/>
          </a:solidFill>
          <a:ln w="12700">
            <a:solidFill>
              <a:srgbClr val="4A3670"/>
            </a:solidFill>
            <a:prstDash val="solid"/>
          </a:ln>
        </p:spPr>
      </p:sp>
      <p:sp>
        <p:nvSpPr>
          <p:cNvPr id="26" name="Text 24"/>
          <p:cNvSpPr/>
          <p:nvPr/>
        </p:nvSpPr>
        <p:spPr>
          <a:xfrm>
            <a:off x="7920435" y="3690500"/>
            <a:ext cx="3433181"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INTERVENTION 06</a:t>
            </a:r>
            <a:endParaRPr lang="en-US" sz="1050" dirty="0"/>
          </a:p>
        </p:txBody>
      </p:sp>
      <p:sp>
        <p:nvSpPr>
          <p:cNvPr id="27" name="Text 25"/>
          <p:cNvSpPr/>
          <p:nvPr/>
        </p:nvSpPr>
        <p:spPr>
          <a:xfrm>
            <a:off x="7920435" y="3966983"/>
            <a:ext cx="3217286"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Adaptive Nudges</a:t>
            </a:r>
            <a:endParaRPr lang="en-US" sz="1700" dirty="0"/>
          </a:p>
        </p:txBody>
      </p:sp>
      <p:sp>
        <p:nvSpPr>
          <p:cNvPr id="28" name="Text 26"/>
          <p:cNvSpPr/>
          <p:nvPr/>
        </p:nvSpPr>
        <p:spPr>
          <a:xfrm>
            <a:off x="7920435" y="4314586"/>
            <a:ext cx="3433181" cy="195560"/>
          </a:xfrm>
          <a:prstGeom prst="rect">
            <a:avLst/>
          </a:prstGeom>
          <a:noFill/>
          <a:ln/>
        </p:spPr>
        <p:txBody>
          <a:bodyPr wrap="none" lIns="0" tIns="0" rIns="0" bIns="0" rtlCol="0" anchor="t"/>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Dynamic 5-minute guided box breathing &amp; </a:t>
            </a:r>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ocular relaxation sequence.</a:t>
            </a:r>
            <a:endParaRPr lang="en-US" sz="1100" dirty="0"/>
          </a:p>
        </p:txBody>
      </p:sp>
      <p:sp>
        <p:nvSpPr>
          <p:cNvPr id="29" name="Text 27"/>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30" name="Text 28"/>
          <p:cNvSpPr/>
          <p:nvPr/>
        </p:nvSpPr>
        <p:spPr>
          <a:xfrm>
            <a:off x="11941174" y="6466086"/>
            <a:ext cx="250521"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4</a:t>
            </a:r>
            <a:endParaRPr lang="en-US" sz="1000" dirty="0"/>
          </a:p>
        </p:txBody>
      </p: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52FA1B1D-BE11-D064-9050-285C47C1300A}"/>
                  </a:ext>
                </a:extLst>
              </p14:cNvPr>
              <p14:cNvContentPartPr/>
              <p14:nvPr/>
            </p14:nvContentPartPr>
            <p14:xfrm>
              <a:off x="11005223" y="6490943"/>
              <a:ext cx="1055880" cy="260280"/>
            </p14:xfrm>
          </p:contentPart>
        </mc:Choice>
        <mc:Fallback xmlns="">
          <p:pic>
            <p:nvPicPr>
              <p:cNvPr id="31" name="Ink 30">
                <a:extLst>
                  <a:ext uri="{FF2B5EF4-FFF2-40B4-BE49-F238E27FC236}">
                    <a16:creationId xmlns:a16="http://schemas.microsoft.com/office/drawing/2014/main" id="{52FA1B1D-BE11-D064-9050-285C47C1300A}"/>
                  </a:ext>
                </a:extLst>
              </p:cNvPr>
              <p:cNvPicPr/>
              <p:nvPr/>
            </p:nvPicPr>
            <p:blipFill>
              <a:blip r:embed="rId4"/>
              <a:stretch>
                <a:fillRect/>
              </a:stretch>
            </p:blipFill>
            <p:spPr>
              <a:xfrm>
                <a:off x="10942583" y="6428303"/>
                <a:ext cx="1181520" cy="3859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1195" y="566312"/>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04 · ML INFERENCE PIPELINE</a:t>
            </a:r>
            <a:endParaRPr lang="en-US" sz="1050" dirty="0"/>
          </a:p>
        </p:txBody>
      </p:sp>
      <p:sp>
        <p:nvSpPr>
          <p:cNvPr id="3" name="Text 1"/>
          <p:cNvSpPr/>
          <p:nvPr/>
        </p:nvSpPr>
        <p:spPr>
          <a:xfrm>
            <a:off x="361195" y="857082"/>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A privacy-first pipeline from webcam to personalized nudge</a:t>
            </a:r>
            <a:endParaRPr lang="en-US" sz="3200" dirty="0"/>
          </a:p>
        </p:txBody>
      </p:sp>
      <p:sp>
        <p:nvSpPr>
          <p:cNvPr id="4" name="Text 2"/>
          <p:cNvSpPr/>
          <p:nvPr/>
        </p:nvSpPr>
        <p:spPr>
          <a:xfrm>
            <a:off x="361195" y="1450748"/>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Raw camera frames are processed on-device and immediately dropped from memory.</a:t>
            </a:r>
            <a:endParaRPr lang="en-US" sz="1400" dirty="0"/>
          </a:p>
        </p:txBody>
      </p:sp>
      <p:sp>
        <p:nvSpPr>
          <p:cNvPr id="5" name="Shape 3"/>
          <p:cNvSpPr/>
          <p:nvPr/>
        </p:nvSpPr>
        <p:spPr>
          <a:xfrm>
            <a:off x="361195" y="1877388"/>
            <a:ext cx="2407196" cy="2183606"/>
          </a:xfrm>
          <a:prstGeom prst="roundRect">
            <a:avLst>
              <a:gd name="adj" fmla="val 3289"/>
            </a:avLst>
          </a:prstGeom>
          <a:solidFill>
            <a:srgbClr val="17102B"/>
          </a:solidFill>
          <a:ln w="12700">
            <a:solidFill>
              <a:srgbClr val="4A3670"/>
            </a:solidFill>
            <a:prstDash val="solid"/>
          </a:ln>
        </p:spPr>
      </p:sp>
      <p:sp>
        <p:nvSpPr>
          <p:cNvPr id="6" name="Text 4"/>
          <p:cNvSpPr/>
          <p:nvPr/>
        </p:nvSpPr>
        <p:spPr>
          <a:xfrm>
            <a:off x="551691" y="2067888"/>
            <a:ext cx="797004"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01</a:t>
            </a:r>
            <a:endParaRPr lang="en-US" sz="1400" dirty="0"/>
          </a:p>
        </p:txBody>
      </p:sp>
      <p:sp>
        <p:nvSpPr>
          <p:cNvPr id="7" name="Shape 5"/>
          <p:cNvSpPr/>
          <p:nvPr/>
        </p:nvSpPr>
        <p:spPr>
          <a:xfrm>
            <a:off x="373895" y="2316828"/>
            <a:ext cx="2087808" cy="19050"/>
          </a:xfrm>
          <a:prstGeom prst="rect">
            <a:avLst/>
          </a:prstGeom>
          <a:solidFill>
            <a:srgbClr val="17102B"/>
          </a:solidFill>
          <a:ln/>
        </p:spPr>
      </p:sp>
      <p:sp>
        <p:nvSpPr>
          <p:cNvPr id="8" name="Text 6"/>
          <p:cNvSpPr/>
          <p:nvPr/>
        </p:nvSpPr>
        <p:spPr>
          <a:xfrm>
            <a:off x="551691"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Webcam Input</a:t>
            </a:r>
            <a:endParaRPr lang="en-US" sz="1700" dirty="0"/>
          </a:p>
        </p:txBody>
      </p:sp>
      <p:sp>
        <p:nvSpPr>
          <p:cNvPr id="9" name="Text 7"/>
          <p:cNvSpPr/>
          <p:nvPr/>
        </p:nvSpPr>
        <p:spPr>
          <a:xfrm>
            <a:off x="551691" y="2806969"/>
            <a:ext cx="1732217" cy="69145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Local video stream</a:t>
            </a:r>
            <a:endParaRPr lang="en-US" sz="1100" dirty="0"/>
          </a:p>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Frames stay in volatile RAM</a:t>
            </a:r>
            <a:endParaRPr lang="en-US" sz="1100" dirty="0"/>
          </a:p>
        </p:txBody>
      </p:sp>
      <p:sp>
        <p:nvSpPr>
          <p:cNvPr id="10" name="Shape 8"/>
          <p:cNvSpPr/>
          <p:nvPr/>
        </p:nvSpPr>
        <p:spPr>
          <a:xfrm>
            <a:off x="2626799" y="1877388"/>
            <a:ext cx="2407196" cy="2183606"/>
          </a:xfrm>
          <a:prstGeom prst="roundRect">
            <a:avLst>
              <a:gd name="adj" fmla="val 3289"/>
            </a:avLst>
          </a:prstGeom>
          <a:solidFill>
            <a:srgbClr val="17102B"/>
          </a:solidFill>
          <a:ln w="12700">
            <a:solidFill>
              <a:srgbClr val="4A3670"/>
            </a:solidFill>
            <a:prstDash val="solid"/>
          </a:ln>
        </p:spPr>
      </p:sp>
      <p:sp>
        <p:nvSpPr>
          <p:cNvPr id="11" name="Text 9"/>
          <p:cNvSpPr/>
          <p:nvPr/>
        </p:nvSpPr>
        <p:spPr>
          <a:xfrm>
            <a:off x="2817294" y="2067888"/>
            <a:ext cx="821908"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02</a:t>
            </a:r>
            <a:endParaRPr lang="en-US" sz="1400" dirty="0"/>
          </a:p>
        </p:txBody>
      </p:sp>
      <p:sp>
        <p:nvSpPr>
          <p:cNvPr id="12" name="Shape 10"/>
          <p:cNvSpPr/>
          <p:nvPr/>
        </p:nvSpPr>
        <p:spPr>
          <a:xfrm>
            <a:off x="2639498" y="2316828"/>
            <a:ext cx="2087808" cy="19050"/>
          </a:xfrm>
          <a:prstGeom prst="rect">
            <a:avLst/>
          </a:prstGeom>
          <a:solidFill>
            <a:srgbClr val="17102B"/>
          </a:solidFill>
          <a:ln/>
        </p:spPr>
      </p:sp>
      <p:sp>
        <p:nvSpPr>
          <p:cNvPr id="13" name="Text 11"/>
          <p:cNvSpPr/>
          <p:nvPr/>
        </p:nvSpPr>
        <p:spPr>
          <a:xfrm>
            <a:off x="2817294"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Edge Deep Learning</a:t>
            </a:r>
          </a:p>
          <a:p>
            <a:pPr marL="0" indent="0" algn="l">
              <a:lnSpc>
                <a:spcPct val="92000"/>
              </a:lnSpc>
              <a:buNone/>
            </a:pPr>
            <a:r>
              <a:rPr lang="en-US" sz="1700" dirty="0">
                <a:solidFill>
                  <a:srgbClr val="FFFFFF"/>
                </a:solidFill>
                <a:latin typeface="Jost" pitchFamily="34" charset="0"/>
                <a:ea typeface="Jost" pitchFamily="34" charset="-122"/>
                <a:cs typeface="Jost" pitchFamily="34" charset="-120"/>
              </a:rPr>
              <a:t>(YuNet / Mesh)</a:t>
            </a:r>
            <a:endParaRPr lang="en-US" sz="1700" dirty="0"/>
          </a:p>
        </p:txBody>
      </p:sp>
      <p:sp>
        <p:nvSpPr>
          <p:cNvPr id="14" name="Text 12"/>
          <p:cNvSpPr/>
          <p:nvPr/>
        </p:nvSpPr>
        <p:spPr>
          <a:xfrm>
            <a:off x="2866196" y="3023501"/>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High-FPS facial landmarks &amp; iris vectoring</a:t>
            </a:r>
            <a:endParaRPr lang="en-US" sz="1100" dirty="0"/>
          </a:p>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Raw pixels discarded here</a:t>
            </a:r>
            <a:endParaRPr lang="en-US" sz="1100" dirty="0"/>
          </a:p>
        </p:txBody>
      </p:sp>
      <p:sp>
        <p:nvSpPr>
          <p:cNvPr id="15" name="Shape 13"/>
          <p:cNvSpPr/>
          <p:nvPr/>
        </p:nvSpPr>
        <p:spPr>
          <a:xfrm>
            <a:off x="4892402" y="1877388"/>
            <a:ext cx="2407196" cy="2183606"/>
          </a:xfrm>
          <a:prstGeom prst="roundRect">
            <a:avLst>
              <a:gd name="adj" fmla="val 3289"/>
            </a:avLst>
          </a:prstGeom>
          <a:solidFill>
            <a:srgbClr val="17102B"/>
          </a:solidFill>
          <a:ln w="12700">
            <a:solidFill>
              <a:srgbClr val="4A3670"/>
            </a:solidFill>
            <a:prstDash val="solid"/>
          </a:ln>
        </p:spPr>
      </p:sp>
      <p:sp>
        <p:nvSpPr>
          <p:cNvPr id="16" name="Text 14"/>
          <p:cNvSpPr/>
          <p:nvPr/>
        </p:nvSpPr>
        <p:spPr>
          <a:xfrm>
            <a:off x="5082897" y="2067888"/>
            <a:ext cx="824983"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03</a:t>
            </a:r>
            <a:endParaRPr lang="en-US" sz="1400" dirty="0"/>
          </a:p>
        </p:txBody>
      </p:sp>
      <p:sp>
        <p:nvSpPr>
          <p:cNvPr id="17" name="Shape 15"/>
          <p:cNvSpPr/>
          <p:nvPr/>
        </p:nvSpPr>
        <p:spPr>
          <a:xfrm>
            <a:off x="4905102" y="2316828"/>
            <a:ext cx="2087808" cy="19050"/>
          </a:xfrm>
          <a:prstGeom prst="rect">
            <a:avLst/>
          </a:prstGeom>
          <a:solidFill>
            <a:srgbClr val="17102B"/>
          </a:solidFill>
          <a:ln/>
        </p:spPr>
      </p:sp>
      <p:sp>
        <p:nvSpPr>
          <p:cNvPr id="18" name="Text 16"/>
          <p:cNvSpPr/>
          <p:nvPr/>
        </p:nvSpPr>
        <p:spPr>
          <a:xfrm>
            <a:off x="5082897"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Feature Extractor</a:t>
            </a:r>
            <a:endParaRPr lang="en-US" sz="1700" dirty="0"/>
          </a:p>
        </p:txBody>
      </p:sp>
      <p:sp>
        <p:nvSpPr>
          <p:cNvPr id="19" name="Text 17"/>
          <p:cNvSpPr/>
          <p:nvPr/>
        </p:nvSpPr>
        <p:spPr>
          <a:xfrm>
            <a:off x="5082897" y="280696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EMA-filtered EAR, Gaze Yaw &amp; PERCLOS</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FACS action unit signals</a:t>
            </a:r>
            <a:endParaRPr lang="en-US" sz="1100" dirty="0"/>
          </a:p>
        </p:txBody>
      </p:sp>
      <p:sp>
        <p:nvSpPr>
          <p:cNvPr id="20" name="Shape 18"/>
          <p:cNvSpPr/>
          <p:nvPr/>
        </p:nvSpPr>
        <p:spPr>
          <a:xfrm>
            <a:off x="7158006" y="1877388"/>
            <a:ext cx="2407196" cy="2183606"/>
          </a:xfrm>
          <a:prstGeom prst="roundRect">
            <a:avLst>
              <a:gd name="adj" fmla="val 3289"/>
            </a:avLst>
          </a:prstGeom>
          <a:solidFill>
            <a:srgbClr val="17102B"/>
          </a:solidFill>
          <a:ln w="12700">
            <a:solidFill>
              <a:srgbClr val="4A3670"/>
            </a:solidFill>
            <a:prstDash val="solid"/>
          </a:ln>
        </p:spPr>
      </p:sp>
      <p:sp>
        <p:nvSpPr>
          <p:cNvPr id="21" name="Text 19"/>
          <p:cNvSpPr/>
          <p:nvPr/>
        </p:nvSpPr>
        <p:spPr>
          <a:xfrm>
            <a:off x="7348501" y="2067888"/>
            <a:ext cx="829746"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04</a:t>
            </a:r>
            <a:endParaRPr lang="en-US" sz="1400" dirty="0"/>
          </a:p>
        </p:txBody>
      </p:sp>
      <p:sp>
        <p:nvSpPr>
          <p:cNvPr id="22" name="Shape 20"/>
          <p:cNvSpPr/>
          <p:nvPr/>
        </p:nvSpPr>
        <p:spPr>
          <a:xfrm>
            <a:off x="7170705" y="2316828"/>
            <a:ext cx="2087808" cy="19050"/>
          </a:xfrm>
          <a:prstGeom prst="rect">
            <a:avLst/>
          </a:prstGeom>
          <a:solidFill>
            <a:srgbClr val="17102B"/>
          </a:solidFill>
          <a:ln/>
        </p:spPr>
      </p:sp>
      <p:sp>
        <p:nvSpPr>
          <p:cNvPr id="23" name="Text 21"/>
          <p:cNvSpPr/>
          <p:nvPr/>
        </p:nvSpPr>
        <p:spPr>
          <a:xfrm>
            <a:off x="7348501" y="2459366"/>
            <a:ext cx="1732217"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LSTM &amp; TCN</a:t>
            </a:r>
            <a:endParaRPr lang="en-US" sz="1700" dirty="0"/>
          </a:p>
        </p:txBody>
      </p:sp>
      <p:sp>
        <p:nvSpPr>
          <p:cNvPr id="24" name="Text 22"/>
          <p:cNvSpPr/>
          <p:nvPr/>
        </p:nvSpPr>
        <p:spPr>
          <a:xfrm>
            <a:off x="7348501" y="280696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E0E1DD"/>
                </a:solidFill>
                <a:latin typeface="Bitter" pitchFamily="34" charset="0"/>
                <a:ea typeface="Bitter" pitchFamily="34" charset="-122"/>
                <a:cs typeface="Bitter" pitchFamily="34" charset="-120"/>
              </a:rPr>
              <a:t>Rolling 3-sec telemetry &amp; EMA temporal smoothing</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Classifies focus stability</a:t>
            </a:r>
            <a:endParaRPr lang="en-US" sz="1100" dirty="0"/>
          </a:p>
        </p:txBody>
      </p:sp>
      <p:sp>
        <p:nvSpPr>
          <p:cNvPr id="25" name="Shape 23"/>
          <p:cNvSpPr/>
          <p:nvPr/>
        </p:nvSpPr>
        <p:spPr>
          <a:xfrm>
            <a:off x="9423609" y="1877388"/>
            <a:ext cx="2407196" cy="2183606"/>
          </a:xfrm>
          <a:prstGeom prst="roundRect">
            <a:avLst>
              <a:gd name="adj" fmla="val 3289"/>
            </a:avLst>
          </a:prstGeom>
          <a:solidFill>
            <a:srgbClr val="17102B"/>
          </a:solidFill>
          <a:ln w="12700">
            <a:solidFill>
              <a:srgbClr val="4CAF50"/>
            </a:solidFill>
            <a:prstDash val="solid"/>
          </a:ln>
        </p:spPr>
      </p:sp>
      <p:sp>
        <p:nvSpPr>
          <p:cNvPr id="26" name="Text 24"/>
          <p:cNvSpPr/>
          <p:nvPr/>
        </p:nvSpPr>
        <p:spPr>
          <a:xfrm>
            <a:off x="9614104" y="2067888"/>
            <a:ext cx="819427" cy="177800"/>
          </a:xfrm>
          <a:prstGeom prst="rect">
            <a:avLst/>
          </a:prstGeom>
          <a:noFill/>
          <a:ln/>
        </p:spPr>
        <p:txBody>
          <a:bodyPr wrap="none" lIns="0" tIns="0" rIns="0" bIns="0" rtlCol="0" anchor="t"/>
          <a:lstStyle/>
          <a:p>
            <a:pPr marL="0" indent="0" algn="l">
              <a:lnSpc>
                <a:spcPct val="83000"/>
              </a:lnSpc>
              <a:buNone/>
            </a:pPr>
            <a:r>
              <a:rPr lang="en-US" sz="1400" dirty="0">
                <a:solidFill>
                  <a:srgbClr val="FFFFFF"/>
                </a:solidFill>
                <a:latin typeface="Bitter SemiBold" pitchFamily="34" charset="0"/>
                <a:ea typeface="Bitter SemiBold" pitchFamily="34" charset="-122"/>
                <a:cs typeface="Bitter SemiBold" pitchFamily="34" charset="-120"/>
              </a:rPr>
              <a:t>05</a:t>
            </a:r>
            <a:endParaRPr lang="en-US" sz="1400" dirty="0"/>
          </a:p>
        </p:txBody>
      </p:sp>
      <p:sp>
        <p:nvSpPr>
          <p:cNvPr id="27" name="Shape 25"/>
          <p:cNvSpPr/>
          <p:nvPr/>
        </p:nvSpPr>
        <p:spPr>
          <a:xfrm>
            <a:off x="9436309" y="2316828"/>
            <a:ext cx="2087808" cy="19050"/>
          </a:xfrm>
          <a:prstGeom prst="rect">
            <a:avLst/>
          </a:prstGeom>
          <a:solidFill>
            <a:srgbClr val="17102B"/>
          </a:solidFill>
          <a:ln/>
        </p:spPr>
      </p:sp>
      <p:sp>
        <p:nvSpPr>
          <p:cNvPr id="28" name="Text 26"/>
          <p:cNvSpPr/>
          <p:nvPr/>
        </p:nvSpPr>
        <p:spPr>
          <a:xfrm>
            <a:off x="9614104" y="2459366"/>
            <a:ext cx="1732217" cy="474861"/>
          </a:xfrm>
          <a:prstGeom prst="rect">
            <a:avLst/>
          </a:prstGeom>
          <a:noFill/>
          <a:ln/>
        </p:spPr>
        <p:txBody>
          <a:bodyPr wrap="square" lIns="0" tIns="0" rIns="0" bIns="0" rtlCol="0" anchor="t">
            <a:normAutofit lnSpcReduction="10000"/>
          </a:bodyPr>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Adaptive UI Nudge</a:t>
            </a:r>
            <a:endParaRPr lang="en-US" sz="1700" dirty="0"/>
          </a:p>
        </p:txBody>
      </p:sp>
      <p:sp>
        <p:nvSpPr>
          <p:cNvPr id="29" name="Text 27"/>
          <p:cNvSpPr/>
          <p:nvPr/>
        </p:nvSpPr>
        <p:spPr>
          <a:xfrm>
            <a:off x="9614104" y="3044399"/>
            <a:ext cx="1732217" cy="495895"/>
          </a:xfrm>
          <a:prstGeom prst="rect">
            <a:avLst/>
          </a:prstGeom>
          <a:noFill/>
          <a:ln/>
        </p:spPr>
        <p:txBody>
          <a:bodyPr wrap="square" lIns="0" tIns="0" rIns="0" bIns="0" rtlCol="0" anchor="t"/>
          <a:lstStyle/>
          <a:p>
            <a:pPr marL="0" indent="0" algn="l">
              <a:lnSpc>
                <a:spcPct val="117000"/>
              </a:lnSpc>
              <a:spcAft>
                <a:spcPts val="800"/>
              </a:spcAft>
              <a:buNone/>
            </a:pPr>
            <a:r>
              <a:rPr lang="en-US" sz="1100" dirty="0">
                <a:solidFill>
                  <a:srgbClr val="4CAF50"/>
                </a:solidFill>
                <a:latin typeface="Bitter" pitchFamily="34" charset="0"/>
                <a:ea typeface="Bitter" pitchFamily="34" charset="-122"/>
                <a:cs typeface="Bitter" pitchFamily="34" charset="-120"/>
              </a:rPr>
              <a:t>Contextual alert</a:t>
            </a:r>
            <a:endParaRPr lang="en-US" sz="1100" dirty="0"/>
          </a:p>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Dispatches timely break</a:t>
            </a:r>
            <a:endParaRPr lang="en-US" sz="1100" dirty="0"/>
          </a:p>
        </p:txBody>
      </p:sp>
      <p:sp>
        <p:nvSpPr>
          <p:cNvPr id="30" name="Shape 28"/>
          <p:cNvSpPr/>
          <p:nvPr/>
        </p:nvSpPr>
        <p:spPr>
          <a:xfrm>
            <a:off x="428183" y="4320061"/>
            <a:ext cx="11175720" cy="640060"/>
          </a:xfrm>
          <a:prstGeom prst="roundRect">
            <a:avLst>
              <a:gd name="adj" fmla="val 1786"/>
            </a:avLst>
          </a:prstGeom>
          <a:solidFill>
            <a:srgbClr val="32235D"/>
          </a:solidFill>
          <a:ln/>
        </p:spPr>
      </p:sp>
      <p:sp>
        <p:nvSpPr>
          <p:cNvPr id="31" name="Text 29"/>
          <p:cNvSpPr/>
          <p:nvPr/>
        </p:nvSpPr>
        <p:spPr>
          <a:xfrm>
            <a:off x="569026" y="4574909"/>
            <a:ext cx="11429714" cy="195560"/>
          </a:xfrm>
          <a:prstGeom prst="rect">
            <a:avLst/>
          </a:prstGeom>
          <a:noFill/>
          <a:ln/>
        </p:spPr>
        <p:txBody>
          <a:bodyPr wrap="none" lIns="0" tIns="0" rIns="0" bIns="0" rtlCol="0" anchor="t"/>
          <a:lstStyle/>
          <a:p>
            <a:pPr marL="0" indent="0" algn="l">
              <a:lnSpc>
                <a:spcPct val="117000"/>
              </a:lnSpc>
              <a:buNone/>
            </a:pPr>
            <a:r>
              <a:rPr lang="en-US" sz="1100" b="1" dirty="0">
                <a:solidFill>
                  <a:srgbClr val="4CAF50"/>
                </a:solidFill>
                <a:latin typeface="Bitter Bold" pitchFamily="34" charset="0"/>
                <a:ea typeface="Bitter Bold" pitchFamily="34" charset="-122"/>
                <a:cs typeface="Bitter Bold" pitchFamily="34" charset="-120"/>
              </a:rPr>
              <a:t>Privacy Guarantee:</a:t>
            </a:r>
            <a:r>
              <a:rPr lang="en-US" sz="1100" dirty="0">
                <a:solidFill>
                  <a:srgbClr val="FFFFFF"/>
                </a:solidFill>
                <a:latin typeface="Bitter" pitchFamily="34" charset="0"/>
                <a:ea typeface="Bitter" pitchFamily="34" charset="-122"/>
                <a:cs typeface="Bitter" pitchFamily="34" charset="-120"/>
              </a:rPr>
              <a:t> </a:t>
            </a:r>
            <a:r>
              <a:rPr lang="en-US" sz="1100" dirty="0">
                <a:solidFill>
                  <a:srgbClr val="E0E1DD"/>
                </a:solidFill>
                <a:latin typeface="Bitter" pitchFamily="34" charset="0"/>
                <a:ea typeface="Bitter" pitchFamily="34" charset="-122"/>
                <a:cs typeface="Bitter" pitchFamily="34" charset="-120"/>
              </a:rPr>
              <a:t>Zero-Pixel Retention: Volatile RAM-only processing. Only anonymous scalar telemetry is stored in local MariaDB.</a:t>
            </a:r>
            <a:endParaRPr lang="en-US" sz="1100" dirty="0"/>
          </a:p>
        </p:txBody>
      </p:sp>
      <p:sp>
        <p:nvSpPr>
          <p:cNvPr id="32" name="Text 30"/>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33" name="Text 31"/>
          <p:cNvSpPr/>
          <p:nvPr/>
        </p:nvSpPr>
        <p:spPr>
          <a:xfrm>
            <a:off x="11947425" y="6466086"/>
            <a:ext cx="244270"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5</a:t>
            </a:r>
            <a:endParaRPr lang="en-US" sz="1000" dirty="0"/>
          </a:p>
        </p:txBody>
      </p:sp>
      <mc:AlternateContent xmlns:mc="http://schemas.openxmlformats.org/markup-compatibility/2006" xmlns:p14="http://schemas.microsoft.com/office/powerpoint/2010/main">
        <mc:Choice Requires="p14">
          <p:contentPart p14:bwMode="auto" r:id="rId3">
            <p14:nvContentPartPr>
              <p14:cNvPr id="36" name="Ink 35">
                <a:extLst>
                  <a:ext uri="{FF2B5EF4-FFF2-40B4-BE49-F238E27FC236}">
                    <a16:creationId xmlns:a16="http://schemas.microsoft.com/office/drawing/2014/main" id="{2B46B5F3-B3FA-5B0E-B2A5-DBC0CBB32984}"/>
                  </a:ext>
                </a:extLst>
              </p14:cNvPr>
              <p14:cNvContentPartPr/>
              <p14:nvPr/>
            </p14:nvContentPartPr>
            <p14:xfrm>
              <a:off x="11162903" y="6498143"/>
              <a:ext cx="882000" cy="246600"/>
            </p14:xfrm>
          </p:contentPart>
        </mc:Choice>
        <mc:Fallback xmlns="">
          <p:pic>
            <p:nvPicPr>
              <p:cNvPr id="36" name="Ink 35">
                <a:extLst>
                  <a:ext uri="{FF2B5EF4-FFF2-40B4-BE49-F238E27FC236}">
                    <a16:creationId xmlns:a16="http://schemas.microsoft.com/office/drawing/2014/main" id="{2B46B5F3-B3FA-5B0E-B2A5-DBC0CBB32984}"/>
                  </a:ext>
                </a:extLst>
              </p:cNvPr>
              <p:cNvPicPr/>
              <p:nvPr/>
            </p:nvPicPr>
            <p:blipFill>
              <a:blip r:embed="rId4"/>
              <a:stretch>
                <a:fillRect/>
              </a:stretch>
            </p:blipFill>
            <p:spPr>
              <a:xfrm>
                <a:off x="11100263" y="6435503"/>
                <a:ext cx="1007640" cy="3722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41294" y="661557"/>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05 · END-TO-END WORKFLOW</a:t>
            </a:r>
            <a:endParaRPr lang="en-US" sz="1050" dirty="0"/>
          </a:p>
        </p:txBody>
      </p:sp>
      <p:sp>
        <p:nvSpPr>
          <p:cNvPr id="3" name="Text 1"/>
          <p:cNvSpPr/>
          <p:nvPr/>
        </p:nvSpPr>
        <p:spPr>
          <a:xfrm>
            <a:off x="241294" y="952328"/>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Six stages close the loop from consent to dashboard</a:t>
            </a:r>
            <a:endParaRPr lang="en-US" sz="3200" dirty="0"/>
          </a:p>
        </p:txBody>
      </p:sp>
      <p:sp>
        <p:nvSpPr>
          <p:cNvPr id="4" name="Text 2"/>
          <p:cNvSpPr/>
          <p:nvPr/>
        </p:nvSpPr>
        <p:spPr>
          <a:xfrm>
            <a:off x="241294" y="1545993"/>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Continuous feedback aligns model weights with individual daily rhythms.</a:t>
            </a:r>
            <a:endParaRPr lang="en-US" sz="1400" dirty="0"/>
          </a:p>
        </p:txBody>
      </p:sp>
      <p:sp>
        <p:nvSpPr>
          <p:cNvPr id="5" name="Shape 3"/>
          <p:cNvSpPr/>
          <p:nvPr/>
        </p:nvSpPr>
        <p:spPr>
          <a:xfrm>
            <a:off x="241294" y="1972634"/>
            <a:ext cx="1862587" cy="1895376"/>
          </a:xfrm>
          <a:prstGeom prst="rect">
            <a:avLst/>
          </a:prstGeom>
          <a:solidFill>
            <a:srgbClr val="17102B"/>
          </a:solidFill>
          <a:ln w="12700">
            <a:solidFill>
              <a:srgbClr val="4A3670"/>
            </a:solidFill>
            <a:prstDash val="solid"/>
          </a:ln>
        </p:spPr>
      </p:sp>
      <p:sp>
        <p:nvSpPr>
          <p:cNvPr id="6" name="Shape 4"/>
          <p:cNvSpPr/>
          <p:nvPr/>
        </p:nvSpPr>
        <p:spPr>
          <a:xfrm>
            <a:off x="253994" y="1985334"/>
            <a:ext cx="1837188" cy="711200"/>
          </a:xfrm>
          <a:prstGeom prst="rect">
            <a:avLst/>
          </a:prstGeom>
          <a:solidFill>
            <a:srgbClr val="302944"/>
          </a:solidFill>
          <a:ln/>
        </p:spPr>
      </p:sp>
      <p:sp>
        <p:nvSpPr>
          <p:cNvPr id="7" name="Shape 5"/>
          <p:cNvSpPr/>
          <p:nvPr/>
        </p:nvSpPr>
        <p:spPr>
          <a:xfrm>
            <a:off x="276119" y="2007460"/>
            <a:ext cx="1792739" cy="666750"/>
          </a:xfrm>
          <a:prstGeom prst="rect">
            <a:avLst/>
          </a:prstGeom>
          <a:solidFill>
            <a:srgbClr val="17102B"/>
          </a:solidFill>
          <a:ln/>
        </p:spPr>
      </p:sp>
      <p:sp>
        <p:nvSpPr>
          <p:cNvPr id="8" name="Text 6"/>
          <p:cNvSpPr/>
          <p:nvPr/>
        </p:nvSpPr>
        <p:spPr>
          <a:xfrm>
            <a:off x="1116084" y="2207584"/>
            <a:ext cx="722493"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1</a:t>
            </a:r>
            <a:endParaRPr lang="en-US" sz="2100" dirty="0"/>
          </a:p>
        </p:txBody>
      </p:sp>
      <p:sp>
        <p:nvSpPr>
          <p:cNvPr id="9" name="Text 7"/>
          <p:cNvSpPr/>
          <p:nvPr/>
        </p:nvSpPr>
        <p:spPr>
          <a:xfrm>
            <a:off x="406390"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01 · Consent</a:t>
            </a:r>
            <a:endParaRPr lang="en-US" sz="1700" dirty="0"/>
          </a:p>
        </p:txBody>
      </p:sp>
      <p:sp>
        <p:nvSpPr>
          <p:cNvPr id="10" name="Text 8"/>
          <p:cNvSpPr/>
          <p:nvPr/>
        </p:nvSpPr>
        <p:spPr>
          <a:xfrm>
            <a:off x="406390"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Explicit opt-in for camera access</a:t>
            </a:r>
            <a:endParaRPr lang="en-US" sz="1100" dirty="0"/>
          </a:p>
        </p:txBody>
      </p:sp>
      <p:sp>
        <p:nvSpPr>
          <p:cNvPr id="11" name="Shape 9"/>
          <p:cNvSpPr/>
          <p:nvPr/>
        </p:nvSpPr>
        <p:spPr>
          <a:xfrm>
            <a:off x="2103881" y="1972634"/>
            <a:ext cx="1862587" cy="1895376"/>
          </a:xfrm>
          <a:prstGeom prst="rect">
            <a:avLst/>
          </a:prstGeom>
          <a:solidFill>
            <a:srgbClr val="17102B"/>
          </a:solidFill>
          <a:ln w="12700">
            <a:solidFill>
              <a:srgbClr val="4A3670"/>
            </a:solidFill>
            <a:prstDash val="solid"/>
          </a:ln>
        </p:spPr>
      </p:sp>
      <p:sp>
        <p:nvSpPr>
          <p:cNvPr id="12" name="Shape 10"/>
          <p:cNvSpPr/>
          <p:nvPr/>
        </p:nvSpPr>
        <p:spPr>
          <a:xfrm>
            <a:off x="2116581" y="1985334"/>
            <a:ext cx="1837188" cy="711200"/>
          </a:xfrm>
          <a:prstGeom prst="rect">
            <a:avLst/>
          </a:prstGeom>
          <a:solidFill>
            <a:srgbClr val="302944"/>
          </a:solidFill>
          <a:ln/>
        </p:spPr>
      </p:sp>
      <p:sp>
        <p:nvSpPr>
          <p:cNvPr id="13" name="Shape 11"/>
          <p:cNvSpPr/>
          <p:nvPr/>
        </p:nvSpPr>
        <p:spPr>
          <a:xfrm>
            <a:off x="2138706" y="2007460"/>
            <a:ext cx="1792739" cy="666750"/>
          </a:xfrm>
          <a:prstGeom prst="rect">
            <a:avLst/>
          </a:prstGeom>
          <a:solidFill>
            <a:srgbClr val="17102B"/>
          </a:solidFill>
          <a:ln/>
        </p:spPr>
      </p:sp>
      <p:sp>
        <p:nvSpPr>
          <p:cNvPr id="14" name="Text 12"/>
          <p:cNvSpPr/>
          <p:nvPr/>
        </p:nvSpPr>
        <p:spPr>
          <a:xfrm>
            <a:off x="2960812" y="2207584"/>
            <a:ext cx="758211"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2</a:t>
            </a:r>
            <a:endParaRPr lang="en-US" sz="2100" dirty="0"/>
          </a:p>
        </p:txBody>
      </p:sp>
      <p:sp>
        <p:nvSpPr>
          <p:cNvPr id="15" name="Text 13"/>
          <p:cNvSpPr/>
          <p:nvPr/>
        </p:nvSpPr>
        <p:spPr>
          <a:xfrm>
            <a:off x="2268977"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02 · Extract</a:t>
            </a:r>
            <a:endParaRPr lang="en-US" sz="1700" dirty="0"/>
          </a:p>
        </p:txBody>
      </p:sp>
      <p:sp>
        <p:nvSpPr>
          <p:cNvPr id="16" name="Text 14"/>
          <p:cNvSpPr/>
          <p:nvPr/>
        </p:nvSpPr>
        <p:spPr>
          <a:xfrm>
            <a:off x="2268977"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Local landmarks and keyboard tokens</a:t>
            </a:r>
            <a:endParaRPr lang="en-US" sz="1100" dirty="0"/>
          </a:p>
        </p:txBody>
      </p:sp>
      <p:sp>
        <p:nvSpPr>
          <p:cNvPr id="17" name="Shape 15"/>
          <p:cNvSpPr/>
          <p:nvPr/>
        </p:nvSpPr>
        <p:spPr>
          <a:xfrm>
            <a:off x="3966468" y="1972634"/>
            <a:ext cx="1862686" cy="1895376"/>
          </a:xfrm>
          <a:prstGeom prst="rect">
            <a:avLst/>
          </a:prstGeom>
          <a:solidFill>
            <a:srgbClr val="17102B"/>
          </a:solidFill>
          <a:ln w="12700">
            <a:solidFill>
              <a:srgbClr val="4A3670"/>
            </a:solidFill>
            <a:prstDash val="solid"/>
          </a:ln>
        </p:spPr>
      </p:sp>
      <p:sp>
        <p:nvSpPr>
          <p:cNvPr id="18" name="Shape 16"/>
          <p:cNvSpPr/>
          <p:nvPr/>
        </p:nvSpPr>
        <p:spPr>
          <a:xfrm>
            <a:off x="3979168" y="1985334"/>
            <a:ext cx="1837287" cy="711200"/>
          </a:xfrm>
          <a:prstGeom prst="rect">
            <a:avLst/>
          </a:prstGeom>
          <a:solidFill>
            <a:srgbClr val="302944"/>
          </a:solidFill>
          <a:ln/>
        </p:spPr>
      </p:sp>
      <p:sp>
        <p:nvSpPr>
          <p:cNvPr id="19" name="Shape 17"/>
          <p:cNvSpPr/>
          <p:nvPr/>
        </p:nvSpPr>
        <p:spPr>
          <a:xfrm>
            <a:off x="4001293" y="2007460"/>
            <a:ext cx="1792739" cy="666750"/>
          </a:xfrm>
          <a:prstGeom prst="rect">
            <a:avLst/>
          </a:prstGeom>
          <a:solidFill>
            <a:srgbClr val="17102B"/>
          </a:solidFill>
          <a:ln/>
        </p:spPr>
      </p:sp>
      <p:sp>
        <p:nvSpPr>
          <p:cNvPr id="20" name="Text 18"/>
          <p:cNvSpPr/>
          <p:nvPr/>
        </p:nvSpPr>
        <p:spPr>
          <a:xfrm>
            <a:off x="4821216" y="2207584"/>
            <a:ext cx="762675"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3</a:t>
            </a:r>
            <a:endParaRPr lang="en-US" sz="2100" dirty="0"/>
          </a:p>
        </p:txBody>
      </p:sp>
      <p:sp>
        <p:nvSpPr>
          <p:cNvPr id="21" name="Text 19"/>
          <p:cNvSpPr/>
          <p:nvPr/>
        </p:nvSpPr>
        <p:spPr>
          <a:xfrm>
            <a:off x="4131564" y="2786386"/>
            <a:ext cx="1532494"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03 · Infer</a:t>
            </a:r>
            <a:endParaRPr lang="en-US" sz="1700" dirty="0"/>
          </a:p>
        </p:txBody>
      </p:sp>
      <p:sp>
        <p:nvSpPr>
          <p:cNvPr id="22" name="Text 20"/>
          <p:cNvSpPr/>
          <p:nvPr/>
        </p:nvSpPr>
        <p:spPr>
          <a:xfrm>
            <a:off x="4131564" y="3133989"/>
            <a:ext cx="1532494"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LSTM pipeline scores attention</a:t>
            </a:r>
            <a:endParaRPr lang="en-US" sz="1100" dirty="0"/>
          </a:p>
        </p:txBody>
      </p:sp>
      <p:sp>
        <p:nvSpPr>
          <p:cNvPr id="23" name="Shape 21"/>
          <p:cNvSpPr/>
          <p:nvPr/>
        </p:nvSpPr>
        <p:spPr>
          <a:xfrm>
            <a:off x="5829155" y="1972634"/>
            <a:ext cx="1862587" cy="1895376"/>
          </a:xfrm>
          <a:prstGeom prst="rect">
            <a:avLst/>
          </a:prstGeom>
          <a:solidFill>
            <a:srgbClr val="17102B"/>
          </a:solidFill>
          <a:ln w="12700">
            <a:solidFill>
              <a:srgbClr val="4A3670"/>
            </a:solidFill>
            <a:prstDash val="solid"/>
          </a:ln>
        </p:spPr>
      </p:sp>
      <p:sp>
        <p:nvSpPr>
          <p:cNvPr id="24" name="Shape 22"/>
          <p:cNvSpPr/>
          <p:nvPr/>
        </p:nvSpPr>
        <p:spPr>
          <a:xfrm>
            <a:off x="5841854" y="1985334"/>
            <a:ext cx="1837188" cy="711200"/>
          </a:xfrm>
          <a:prstGeom prst="rect">
            <a:avLst/>
          </a:prstGeom>
          <a:solidFill>
            <a:srgbClr val="302944"/>
          </a:solidFill>
          <a:ln/>
        </p:spPr>
      </p:sp>
      <p:sp>
        <p:nvSpPr>
          <p:cNvPr id="25" name="Shape 23"/>
          <p:cNvSpPr/>
          <p:nvPr/>
        </p:nvSpPr>
        <p:spPr>
          <a:xfrm>
            <a:off x="5863979" y="2007460"/>
            <a:ext cx="1792739" cy="666750"/>
          </a:xfrm>
          <a:prstGeom prst="rect">
            <a:avLst/>
          </a:prstGeom>
          <a:solidFill>
            <a:srgbClr val="17102B"/>
          </a:solidFill>
          <a:ln/>
        </p:spPr>
      </p:sp>
      <p:sp>
        <p:nvSpPr>
          <p:cNvPr id="26" name="Text 24"/>
          <p:cNvSpPr/>
          <p:nvPr/>
        </p:nvSpPr>
        <p:spPr>
          <a:xfrm>
            <a:off x="6680232" y="2207584"/>
            <a:ext cx="769918"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4</a:t>
            </a:r>
            <a:endParaRPr lang="en-US" sz="2100" dirty="0"/>
          </a:p>
        </p:txBody>
      </p:sp>
      <p:sp>
        <p:nvSpPr>
          <p:cNvPr id="27" name="Text 25"/>
          <p:cNvSpPr/>
          <p:nvPr/>
        </p:nvSpPr>
        <p:spPr>
          <a:xfrm>
            <a:off x="5994250"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04 · Cluster</a:t>
            </a:r>
            <a:endParaRPr lang="en-US" sz="1700" dirty="0"/>
          </a:p>
        </p:txBody>
      </p:sp>
      <p:sp>
        <p:nvSpPr>
          <p:cNvPr id="28" name="Text 26"/>
          <p:cNvSpPr/>
          <p:nvPr/>
        </p:nvSpPr>
        <p:spPr>
          <a:xfrm>
            <a:off x="5994250" y="3133989"/>
            <a:ext cx="1532395" cy="391120"/>
          </a:xfrm>
          <a:prstGeom prst="rect">
            <a:avLst/>
          </a:prstGeom>
          <a:noFill/>
          <a:ln/>
        </p:spPr>
        <p:txBody>
          <a:bodyPr wrap="square" lIns="0" tIns="0" rIns="0" bIns="0" rtlCol="0" anchor="t">
            <a:normAutofit fontScale="85000" lnSpcReduction="10000"/>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Circadian clustering isolates personal peak hours</a:t>
            </a:r>
            <a:endParaRPr lang="en-US" sz="1100" dirty="0"/>
          </a:p>
        </p:txBody>
      </p:sp>
      <p:sp>
        <p:nvSpPr>
          <p:cNvPr id="29" name="Shape 27"/>
          <p:cNvSpPr/>
          <p:nvPr/>
        </p:nvSpPr>
        <p:spPr>
          <a:xfrm>
            <a:off x="7691741" y="1972633"/>
            <a:ext cx="1862587" cy="1895375"/>
          </a:xfrm>
          <a:prstGeom prst="rect">
            <a:avLst/>
          </a:prstGeom>
          <a:solidFill>
            <a:srgbClr val="17102B"/>
          </a:solidFill>
          <a:ln w="12700">
            <a:solidFill>
              <a:srgbClr val="4A3670"/>
            </a:solidFill>
            <a:prstDash val="solid"/>
          </a:ln>
        </p:spPr>
      </p:sp>
      <p:sp>
        <p:nvSpPr>
          <p:cNvPr id="30" name="Shape 28"/>
          <p:cNvSpPr/>
          <p:nvPr/>
        </p:nvSpPr>
        <p:spPr>
          <a:xfrm>
            <a:off x="7704441" y="1985334"/>
            <a:ext cx="1837188" cy="711200"/>
          </a:xfrm>
          <a:prstGeom prst="rect">
            <a:avLst/>
          </a:prstGeom>
          <a:solidFill>
            <a:srgbClr val="302944"/>
          </a:solidFill>
          <a:ln/>
        </p:spPr>
      </p:sp>
      <p:sp>
        <p:nvSpPr>
          <p:cNvPr id="31" name="Shape 29"/>
          <p:cNvSpPr/>
          <p:nvPr/>
        </p:nvSpPr>
        <p:spPr>
          <a:xfrm>
            <a:off x="7726566" y="2007460"/>
            <a:ext cx="1792739" cy="666750"/>
          </a:xfrm>
          <a:prstGeom prst="rect">
            <a:avLst/>
          </a:prstGeom>
          <a:solidFill>
            <a:srgbClr val="17102B"/>
          </a:solidFill>
          <a:ln/>
        </p:spPr>
      </p:sp>
      <p:sp>
        <p:nvSpPr>
          <p:cNvPr id="32" name="Text 30"/>
          <p:cNvSpPr/>
          <p:nvPr/>
        </p:nvSpPr>
        <p:spPr>
          <a:xfrm>
            <a:off x="8550558" y="2207584"/>
            <a:ext cx="754441"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5</a:t>
            </a:r>
            <a:endParaRPr lang="en-US" sz="2100" dirty="0"/>
          </a:p>
        </p:txBody>
      </p:sp>
      <p:sp>
        <p:nvSpPr>
          <p:cNvPr id="33" name="Text 31"/>
          <p:cNvSpPr/>
          <p:nvPr/>
        </p:nvSpPr>
        <p:spPr>
          <a:xfrm>
            <a:off x="7856837" y="2786386"/>
            <a:ext cx="1532395"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05 · Nudge</a:t>
            </a:r>
            <a:endParaRPr lang="en-US" sz="1700" dirty="0"/>
          </a:p>
        </p:txBody>
      </p:sp>
      <p:sp>
        <p:nvSpPr>
          <p:cNvPr id="34" name="Text 32"/>
          <p:cNvSpPr/>
          <p:nvPr/>
        </p:nvSpPr>
        <p:spPr>
          <a:xfrm>
            <a:off x="7856837" y="3133989"/>
            <a:ext cx="1532395" cy="391120"/>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0E1DD"/>
                </a:solidFill>
                <a:latin typeface="Bitter" pitchFamily="34" charset="0"/>
                <a:ea typeface="Bitter" pitchFamily="34" charset="-122"/>
                <a:cs typeface="Bitter" pitchFamily="34" charset="-120"/>
              </a:rPr>
              <a:t>Contextual alerts for fatigue</a:t>
            </a:r>
            <a:endParaRPr lang="en-US" sz="1100" dirty="0"/>
          </a:p>
        </p:txBody>
      </p:sp>
      <p:sp>
        <p:nvSpPr>
          <p:cNvPr id="35" name="Shape 33"/>
          <p:cNvSpPr/>
          <p:nvPr/>
        </p:nvSpPr>
        <p:spPr>
          <a:xfrm>
            <a:off x="9554328" y="1972634"/>
            <a:ext cx="1862686" cy="1895376"/>
          </a:xfrm>
          <a:prstGeom prst="rect">
            <a:avLst/>
          </a:prstGeom>
          <a:solidFill>
            <a:srgbClr val="17102B"/>
          </a:solidFill>
          <a:ln w="12700">
            <a:solidFill>
              <a:srgbClr val="4CAF50"/>
            </a:solidFill>
            <a:prstDash val="solid"/>
          </a:ln>
        </p:spPr>
      </p:sp>
      <p:sp>
        <p:nvSpPr>
          <p:cNvPr id="36" name="Shape 34"/>
          <p:cNvSpPr/>
          <p:nvPr/>
        </p:nvSpPr>
        <p:spPr>
          <a:xfrm>
            <a:off x="9567028" y="1985334"/>
            <a:ext cx="1837287" cy="711200"/>
          </a:xfrm>
          <a:prstGeom prst="rect">
            <a:avLst/>
          </a:prstGeom>
          <a:solidFill>
            <a:srgbClr val="302944"/>
          </a:solidFill>
          <a:ln/>
        </p:spPr>
      </p:sp>
      <p:sp>
        <p:nvSpPr>
          <p:cNvPr id="37" name="Shape 35"/>
          <p:cNvSpPr/>
          <p:nvPr/>
        </p:nvSpPr>
        <p:spPr>
          <a:xfrm>
            <a:off x="9589153" y="2007460"/>
            <a:ext cx="1792739" cy="666750"/>
          </a:xfrm>
          <a:prstGeom prst="rect">
            <a:avLst/>
          </a:prstGeom>
          <a:solidFill>
            <a:srgbClr val="17102B"/>
          </a:solidFill>
          <a:ln/>
        </p:spPr>
      </p:sp>
      <p:sp>
        <p:nvSpPr>
          <p:cNvPr id="38" name="Text 36"/>
          <p:cNvSpPr/>
          <p:nvPr/>
        </p:nvSpPr>
        <p:spPr>
          <a:xfrm>
            <a:off x="10406993" y="2207584"/>
            <a:ext cx="766942" cy="266700"/>
          </a:xfrm>
          <a:prstGeom prst="rect">
            <a:avLst/>
          </a:prstGeom>
          <a:noFill/>
          <a:ln/>
        </p:spPr>
        <p:txBody>
          <a:bodyPr wrap="none" lIns="0" tIns="0" rIns="0" bIns="0" rtlCol="0" anchor="t"/>
          <a:lstStyle/>
          <a:p>
            <a:pPr marL="0" indent="0" algn="l">
              <a:lnSpc>
                <a:spcPct val="83000"/>
              </a:lnSpc>
              <a:buNone/>
            </a:pPr>
            <a:r>
              <a:rPr lang="en-US" sz="2100" dirty="0">
                <a:solidFill>
                  <a:srgbClr val="F2EDFB"/>
                </a:solidFill>
                <a:latin typeface="Bitter SemiBold" pitchFamily="34" charset="0"/>
                <a:ea typeface="Bitter SemiBold" pitchFamily="34" charset="-122"/>
                <a:cs typeface="Bitter SemiBold" pitchFamily="34" charset="-120"/>
              </a:rPr>
              <a:t>6</a:t>
            </a:r>
            <a:endParaRPr lang="en-US" sz="2100" dirty="0"/>
          </a:p>
        </p:txBody>
      </p:sp>
      <p:sp>
        <p:nvSpPr>
          <p:cNvPr id="39" name="Text 37"/>
          <p:cNvSpPr/>
          <p:nvPr/>
        </p:nvSpPr>
        <p:spPr>
          <a:xfrm>
            <a:off x="9719424" y="2786386"/>
            <a:ext cx="1532494" cy="237430"/>
          </a:xfrm>
          <a:prstGeom prst="rect">
            <a:avLst/>
          </a:prstGeom>
          <a:noFill/>
          <a:ln/>
        </p:spPr>
        <p:txBody>
          <a:bodyPr wrap="none" lIns="0" tIns="0" rIns="0" bIns="0" rtlCol="0" anchor="t"/>
          <a:lstStyle/>
          <a:p>
            <a:pPr marL="0" indent="0" algn="l">
              <a:lnSpc>
                <a:spcPct val="92000"/>
              </a:lnSpc>
              <a:buNone/>
            </a:pPr>
            <a:r>
              <a:rPr lang="en-US" sz="1700" dirty="0">
                <a:solidFill>
                  <a:srgbClr val="FFFFFF"/>
                </a:solidFill>
                <a:latin typeface="Jost" pitchFamily="34" charset="0"/>
                <a:ea typeface="Jost" pitchFamily="34" charset="-122"/>
                <a:cs typeface="Jost" pitchFamily="34" charset="-120"/>
              </a:rPr>
              <a:t>06 · Adapt</a:t>
            </a:r>
            <a:endParaRPr lang="en-US" sz="1700" dirty="0"/>
          </a:p>
        </p:txBody>
      </p:sp>
      <p:sp>
        <p:nvSpPr>
          <p:cNvPr id="40" name="Text 38"/>
          <p:cNvSpPr/>
          <p:nvPr/>
        </p:nvSpPr>
        <p:spPr>
          <a:xfrm>
            <a:off x="9719424" y="3133989"/>
            <a:ext cx="1532494" cy="391120"/>
          </a:xfrm>
          <a:prstGeom prst="rect">
            <a:avLst/>
          </a:prstGeom>
          <a:noFill/>
          <a:ln/>
        </p:spPr>
        <p:txBody>
          <a:bodyPr wrap="square" lIns="0" tIns="0" rIns="0" bIns="0" rtlCol="0" anchor="t">
            <a:normAutofit fontScale="85000" lnSpcReduction="10000"/>
          </a:bodyPr>
          <a:lstStyle/>
          <a:p>
            <a:pPr marL="0" indent="0" algn="l">
              <a:lnSpc>
                <a:spcPct val="117000"/>
              </a:lnSpc>
              <a:buNone/>
            </a:pPr>
            <a:r>
              <a:rPr lang="en-US" sz="1100" dirty="0">
                <a:solidFill>
                  <a:srgbClr val="4CAF50"/>
                </a:solidFill>
                <a:latin typeface="Bitter" pitchFamily="34" charset="0"/>
                <a:ea typeface="Bitter" pitchFamily="34" charset="-122"/>
                <a:cs typeface="Bitter" pitchFamily="34" charset="-120"/>
              </a:rPr>
              <a:t>Personalized 1-key neutral gaze calibration (c-key)</a:t>
            </a:r>
            <a:endParaRPr lang="en-US" sz="1100" dirty="0"/>
          </a:p>
        </p:txBody>
      </p:sp>
      <p:sp>
        <p:nvSpPr>
          <p:cNvPr id="41" name="Text 39"/>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42" name="Text 40"/>
          <p:cNvSpPr/>
          <p:nvPr/>
        </p:nvSpPr>
        <p:spPr>
          <a:xfrm>
            <a:off x="11940777" y="6466086"/>
            <a:ext cx="250918"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6</a:t>
            </a:r>
            <a:endParaRPr lang="en-US" sz="1000" dirty="0"/>
          </a:p>
        </p:txBody>
      </p:sp>
      <mc:AlternateContent xmlns:mc="http://schemas.openxmlformats.org/markup-compatibility/2006" xmlns:p14="http://schemas.microsoft.com/office/powerpoint/2010/main">
        <mc:Choice Requires="p14">
          <p:contentPart p14:bwMode="auto" r:id="rId3">
            <p14:nvContentPartPr>
              <p14:cNvPr id="43" name="Ink 42">
                <a:extLst>
                  <a:ext uri="{FF2B5EF4-FFF2-40B4-BE49-F238E27FC236}">
                    <a16:creationId xmlns:a16="http://schemas.microsoft.com/office/drawing/2014/main" id="{797E870A-0C2E-4A42-9103-3F87175696A8}"/>
                  </a:ext>
                </a:extLst>
              </p14:cNvPr>
              <p14:cNvContentPartPr/>
              <p14:nvPr/>
            </p14:nvContentPartPr>
            <p14:xfrm>
              <a:off x="10897943" y="6565463"/>
              <a:ext cx="1144080" cy="177120"/>
            </p14:xfrm>
          </p:contentPart>
        </mc:Choice>
        <mc:Fallback xmlns="">
          <p:pic>
            <p:nvPicPr>
              <p:cNvPr id="43" name="Ink 42">
                <a:extLst>
                  <a:ext uri="{FF2B5EF4-FFF2-40B4-BE49-F238E27FC236}">
                    <a16:creationId xmlns:a16="http://schemas.microsoft.com/office/drawing/2014/main" id="{797E870A-0C2E-4A42-9103-3F87175696A8}"/>
                  </a:ext>
                </a:extLst>
              </p:cNvPr>
              <p:cNvPicPr/>
              <p:nvPr/>
            </p:nvPicPr>
            <p:blipFill>
              <a:blip r:embed="rId4"/>
              <a:stretch>
                <a:fillRect/>
              </a:stretch>
            </p:blipFill>
            <p:spPr>
              <a:xfrm>
                <a:off x="10834943" y="6502823"/>
                <a:ext cx="1269720" cy="3027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54146" y="426674"/>
            <a:ext cx="11683708" cy="186630"/>
          </a:xfrm>
          <a:prstGeom prst="rect">
            <a:avLst/>
          </a:prstGeom>
          <a:noFill/>
          <a:ln/>
        </p:spPr>
        <p:txBody>
          <a:bodyPr wrap="none" lIns="0" tIns="0" rIns="0" bIns="0" rtlCol="0" anchor="t"/>
          <a:lstStyle/>
          <a:p>
            <a:pPr marL="0" indent="0" algn="l">
              <a:lnSpc>
                <a:spcPct val="117000"/>
              </a:lnSpc>
              <a:buNone/>
            </a:pPr>
            <a:r>
              <a:rPr lang="en-US" sz="1050" kern="100" spc="63" dirty="0">
                <a:solidFill>
                  <a:srgbClr val="4CAF50"/>
                </a:solidFill>
                <a:latin typeface="Bitter" pitchFamily="34" charset="0"/>
                <a:ea typeface="Bitter" pitchFamily="34" charset="-122"/>
                <a:cs typeface="Bitter" pitchFamily="34" charset="-120"/>
              </a:rPr>
              <a:t>06 · EVALUATION &amp; LIMITS</a:t>
            </a:r>
            <a:endParaRPr lang="en-US" sz="1050" dirty="0"/>
          </a:p>
        </p:txBody>
      </p:sp>
      <p:sp>
        <p:nvSpPr>
          <p:cNvPr id="3" name="Text 1"/>
          <p:cNvSpPr/>
          <p:nvPr/>
        </p:nvSpPr>
        <p:spPr>
          <a:xfrm>
            <a:off x="254146" y="717445"/>
            <a:ext cx="11175720" cy="446980"/>
          </a:xfrm>
          <a:prstGeom prst="rect">
            <a:avLst/>
          </a:prstGeom>
          <a:noFill/>
          <a:ln/>
        </p:spPr>
        <p:txBody>
          <a:bodyPr wrap="none" lIns="0" tIns="0" rIns="0" bIns="0" rtlCol="0" anchor="t"/>
          <a:lstStyle/>
          <a:p>
            <a:pPr marL="0" indent="0" algn="l">
              <a:lnSpc>
                <a:spcPct val="92000"/>
              </a:lnSpc>
              <a:buNone/>
            </a:pPr>
            <a:r>
              <a:rPr lang="en-US" sz="3200" dirty="0">
                <a:solidFill>
                  <a:srgbClr val="F2EDFB"/>
                </a:solidFill>
                <a:latin typeface="Jost" pitchFamily="34" charset="0"/>
                <a:ea typeface="Jost" pitchFamily="34" charset="-122"/>
                <a:cs typeface="Jost" pitchFamily="34" charset="-120"/>
              </a:rPr>
              <a:t>Real value, with honest technical and research limits</a:t>
            </a:r>
            <a:endParaRPr lang="en-US" sz="3200" dirty="0"/>
          </a:p>
        </p:txBody>
      </p:sp>
      <p:sp>
        <p:nvSpPr>
          <p:cNvPr id="4" name="Text 2"/>
          <p:cNvSpPr/>
          <p:nvPr/>
        </p:nvSpPr>
        <p:spPr>
          <a:xfrm>
            <a:off x="254146" y="1311110"/>
            <a:ext cx="11683708" cy="248841"/>
          </a:xfrm>
          <a:prstGeom prst="rect">
            <a:avLst/>
          </a:prstGeom>
          <a:noFill/>
          <a:ln/>
        </p:spPr>
        <p:txBody>
          <a:bodyPr wrap="none" lIns="0" tIns="0" rIns="0" bIns="0" rtlCol="0" anchor="t"/>
          <a:lstStyle/>
          <a:p>
            <a:pPr marL="0" indent="0" algn="l">
              <a:lnSpc>
                <a:spcPct val="117000"/>
              </a:lnSpc>
              <a:buNone/>
            </a:pPr>
            <a:r>
              <a:rPr lang="en-US" sz="1400" dirty="0">
                <a:solidFill>
                  <a:srgbClr val="E0E1DD"/>
                </a:solidFill>
                <a:latin typeface="Bitter" pitchFamily="34" charset="0"/>
                <a:ea typeface="Bitter" pitchFamily="34" charset="-122"/>
                <a:cs typeface="Bitter" pitchFamily="34" charset="-120"/>
              </a:rPr>
              <a:t>Clear utility boundaries separate productivity aids from clinical diagnosis.</a:t>
            </a:r>
            <a:endParaRPr lang="en-US" sz="1400" dirty="0"/>
          </a:p>
        </p:txBody>
      </p:sp>
      <p:sp>
        <p:nvSpPr>
          <p:cNvPr id="5" name="Shape 3"/>
          <p:cNvSpPr/>
          <p:nvPr/>
        </p:nvSpPr>
        <p:spPr>
          <a:xfrm>
            <a:off x="254146" y="1737750"/>
            <a:ext cx="5435464" cy="3263661"/>
          </a:xfrm>
          <a:prstGeom prst="roundRect">
            <a:avLst>
              <a:gd name="adj" fmla="val 2234"/>
            </a:avLst>
          </a:prstGeom>
          <a:solidFill>
            <a:srgbClr val="17102B"/>
          </a:solidFill>
          <a:ln w="12700">
            <a:solidFill>
              <a:srgbClr val="4CAF50"/>
            </a:solidFill>
            <a:prstDash val="solid"/>
          </a:ln>
        </p:spPr>
      </p:sp>
      <p:sp>
        <p:nvSpPr>
          <p:cNvPr id="6" name="Shape 4"/>
          <p:cNvSpPr/>
          <p:nvPr/>
        </p:nvSpPr>
        <p:spPr>
          <a:xfrm>
            <a:off x="571638" y="2029851"/>
            <a:ext cx="1614348" cy="270173"/>
          </a:xfrm>
          <a:prstGeom prst="roundRect">
            <a:avLst>
              <a:gd name="adj" fmla="val 4231"/>
            </a:avLst>
          </a:prstGeom>
          <a:solidFill>
            <a:srgbClr val="1E1538"/>
          </a:solidFill>
          <a:ln/>
        </p:spPr>
      </p:sp>
      <p:sp>
        <p:nvSpPr>
          <p:cNvPr id="7" name="Text 5"/>
          <p:cNvSpPr/>
          <p:nvPr/>
        </p:nvSpPr>
        <p:spPr>
          <a:xfrm>
            <a:off x="678296" y="2086899"/>
            <a:ext cx="2010618"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VALUE REALIZATION</a:t>
            </a:r>
            <a:endParaRPr lang="en-US" sz="1100" dirty="0"/>
          </a:p>
        </p:txBody>
      </p:sp>
      <p:sp>
        <p:nvSpPr>
          <p:cNvPr id="8" name="Text 6"/>
          <p:cNvSpPr/>
          <p:nvPr/>
        </p:nvSpPr>
        <p:spPr>
          <a:xfrm>
            <a:off x="571638" y="2447661"/>
            <a:ext cx="4800480" cy="279400"/>
          </a:xfrm>
          <a:prstGeom prst="rect">
            <a:avLst/>
          </a:prstGeom>
          <a:noFill/>
          <a:ln/>
        </p:spPr>
        <p:txBody>
          <a:bodyPr wrap="none" lIns="0" tIns="0" rIns="0" bIns="0" rtlCol="0" anchor="t"/>
          <a:lstStyle/>
          <a:p>
            <a:pPr marL="0" indent="0" algn="l">
              <a:lnSpc>
                <a:spcPct val="92000"/>
              </a:lnSpc>
              <a:buNone/>
            </a:pPr>
            <a:r>
              <a:rPr lang="en-US" sz="2000" dirty="0">
                <a:solidFill>
                  <a:srgbClr val="4CAF50"/>
                </a:solidFill>
                <a:latin typeface="Jost" pitchFamily="34" charset="0"/>
                <a:ea typeface="Jost" pitchFamily="34" charset="-122"/>
                <a:cs typeface="Jost" pitchFamily="34" charset="-120"/>
              </a:rPr>
              <a:t>Demonstrated Prototype Capabilities</a:t>
            </a:r>
            <a:endParaRPr lang="en-US" sz="2000" dirty="0"/>
          </a:p>
        </p:txBody>
      </p:sp>
      <p:sp>
        <p:nvSpPr>
          <p:cNvPr id="9" name="Shape 7"/>
          <p:cNvSpPr/>
          <p:nvPr/>
        </p:nvSpPr>
        <p:spPr>
          <a:xfrm>
            <a:off x="571638" y="2877873"/>
            <a:ext cx="4800480" cy="19050"/>
          </a:xfrm>
          <a:prstGeom prst="roundRect">
            <a:avLst>
              <a:gd name="adj" fmla="val 49999"/>
            </a:avLst>
          </a:prstGeom>
          <a:solidFill>
            <a:srgbClr val="4CAF50"/>
          </a:solidFill>
          <a:ln/>
        </p:spPr>
      </p:sp>
      <p:sp>
        <p:nvSpPr>
          <p:cNvPr id="10" name="Text 8"/>
          <p:cNvSpPr/>
          <p:nvPr/>
        </p:nvSpPr>
        <p:spPr>
          <a:xfrm>
            <a:off x="571638" y="3046148"/>
            <a:ext cx="4800480" cy="1128713"/>
          </a:xfrm>
          <a:prstGeom prst="rect">
            <a:avLst/>
          </a:prstGeom>
          <a:noFill/>
          <a:ln/>
        </p:spPr>
        <p:txBody>
          <a:bodyPr wrap="square" lIns="0" tIns="0" rIns="0" bIns="0" rtlCol="0" anchor="t">
            <a:normAutofit fontScale="77500" lnSpcReduction="2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Preserves deep work by dynamically silencing alerts during high focus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Reduced digital screen strain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Detects cognitive drop 3-5 min before conscious mental exhaustion</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MariaDB telemetry analytics reveal true circadian productivity rhythms</a:t>
            </a:r>
            <a:endParaRPr lang="en-US" sz="1400" dirty="0"/>
          </a:p>
        </p:txBody>
      </p:sp>
      <p:sp>
        <p:nvSpPr>
          <p:cNvPr id="11" name="Shape 9"/>
          <p:cNvSpPr/>
          <p:nvPr/>
        </p:nvSpPr>
        <p:spPr>
          <a:xfrm>
            <a:off x="5994403" y="1737062"/>
            <a:ext cx="5435464" cy="3263661"/>
          </a:xfrm>
          <a:prstGeom prst="roundRect">
            <a:avLst>
              <a:gd name="adj" fmla="val 2234"/>
            </a:avLst>
          </a:prstGeom>
          <a:solidFill>
            <a:srgbClr val="17102B"/>
          </a:solidFill>
          <a:ln w="12700">
            <a:solidFill>
              <a:srgbClr val="FFC107"/>
            </a:solidFill>
            <a:prstDash val="solid"/>
          </a:ln>
        </p:spPr>
      </p:sp>
      <p:sp>
        <p:nvSpPr>
          <p:cNvPr id="12" name="Shape 10"/>
          <p:cNvSpPr/>
          <p:nvPr/>
        </p:nvSpPr>
        <p:spPr>
          <a:xfrm>
            <a:off x="6311895" y="2029851"/>
            <a:ext cx="1452229" cy="270173"/>
          </a:xfrm>
          <a:prstGeom prst="roundRect">
            <a:avLst>
              <a:gd name="adj" fmla="val 4231"/>
            </a:avLst>
          </a:prstGeom>
          <a:solidFill>
            <a:srgbClr val="1E1538"/>
          </a:solidFill>
          <a:ln/>
        </p:spPr>
      </p:sp>
      <p:sp>
        <p:nvSpPr>
          <p:cNvPr id="13" name="Text 11"/>
          <p:cNvSpPr/>
          <p:nvPr/>
        </p:nvSpPr>
        <p:spPr>
          <a:xfrm>
            <a:off x="6418552" y="2086899"/>
            <a:ext cx="1848498" cy="163612"/>
          </a:xfrm>
          <a:prstGeom prst="rect">
            <a:avLst/>
          </a:prstGeom>
          <a:noFill/>
          <a:ln/>
        </p:spPr>
        <p:txBody>
          <a:bodyPr wrap="none" lIns="0" tIns="0" rIns="0" bIns="0" rtlCol="0" anchor="t"/>
          <a:lstStyle/>
          <a:p>
            <a:pPr marL="0" indent="0" algn="l">
              <a:lnSpc>
                <a:spcPct val="96000"/>
              </a:lnSpc>
              <a:buNone/>
            </a:pPr>
            <a:r>
              <a:rPr lang="en-US" sz="1100" dirty="0">
                <a:solidFill>
                  <a:srgbClr val="F2EDFB"/>
                </a:solidFill>
                <a:latin typeface="Bitter" pitchFamily="34" charset="0"/>
                <a:ea typeface="Bitter" pitchFamily="34" charset="-122"/>
                <a:cs typeface="Bitter" pitchFamily="34" charset="-120"/>
              </a:rPr>
              <a:t>RESEARCH LIMITS</a:t>
            </a:r>
            <a:endParaRPr lang="en-US" sz="1100" dirty="0"/>
          </a:p>
        </p:txBody>
      </p:sp>
      <p:sp>
        <p:nvSpPr>
          <p:cNvPr id="14" name="Text 12"/>
          <p:cNvSpPr/>
          <p:nvPr/>
        </p:nvSpPr>
        <p:spPr>
          <a:xfrm>
            <a:off x="6311895" y="2447661"/>
            <a:ext cx="4800480" cy="279400"/>
          </a:xfrm>
          <a:prstGeom prst="rect">
            <a:avLst/>
          </a:prstGeom>
          <a:noFill/>
          <a:ln/>
        </p:spPr>
        <p:txBody>
          <a:bodyPr wrap="none" lIns="0" tIns="0" rIns="0" bIns="0" rtlCol="0" anchor="t"/>
          <a:lstStyle/>
          <a:p>
            <a:pPr marL="0" indent="0" algn="l">
              <a:lnSpc>
                <a:spcPct val="92000"/>
              </a:lnSpc>
              <a:buNone/>
            </a:pPr>
            <a:r>
              <a:rPr lang="en-US" sz="2000" dirty="0">
                <a:solidFill>
                  <a:srgbClr val="FFC107"/>
                </a:solidFill>
                <a:latin typeface="Jost" pitchFamily="34" charset="0"/>
                <a:ea typeface="Jost" pitchFamily="34" charset="-122"/>
                <a:cs typeface="Jost" pitchFamily="34" charset="-120"/>
              </a:rPr>
              <a:t>Technical Constraints</a:t>
            </a:r>
            <a:endParaRPr lang="en-US" sz="2000" dirty="0"/>
          </a:p>
        </p:txBody>
      </p:sp>
      <p:sp>
        <p:nvSpPr>
          <p:cNvPr id="15" name="Shape 13"/>
          <p:cNvSpPr/>
          <p:nvPr/>
        </p:nvSpPr>
        <p:spPr>
          <a:xfrm>
            <a:off x="6311895" y="2877873"/>
            <a:ext cx="4800480" cy="19050"/>
          </a:xfrm>
          <a:prstGeom prst="roundRect">
            <a:avLst>
              <a:gd name="adj" fmla="val 49999"/>
            </a:avLst>
          </a:prstGeom>
          <a:solidFill>
            <a:srgbClr val="FFC107"/>
          </a:solidFill>
          <a:ln/>
        </p:spPr>
      </p:sp>
      <p:sp>
        <p:nvSpPr>
          <p:cNvPr id="16" name="Text 14"/>
          <p:cNvSpPr/>
          <p:nvPr/>
        </p:nvSpPr>
        <p:spPr>
          <a:xfrm>
            <a:off x="6311895" y="3046148"/>
            <a:ext cx="4800480" cy="1128713"/>
          </a:xfrm>
          <a:prstGeom prst="rect">
            <a:avLst/>
          </a:prstGeom>
          <a:noFill/>
          <a:ln/>
        </p:spPr>
        <p:txBody>
          <a:bodyPr wrap="square" lIns="0" tIns="0" rIns="0" bIns="0" rtlCol="0" anchor="t">
            <a:normAutofit fontScale="92500" lnSpcReduction="10000"/>
          </a:bodyPr>
          <a:lstStyle/>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Lighting and camera angle alter accuracy</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Solved: 1-Key neutral calibration (c-key) adapts to glasses &amp; angles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Non-medical utility, not clinical diagnosis</a:t>
            </a:r>
            <a:endParaRPr lang="en-US" sz="1400" dirty="0"/>
          </a:p>
          <a:p>
            <a:pPr marL="284480" indent="-284480" algn="l">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Cannot separate deep reflection from idle gaze</a:t>
            </a:r>
            <a:endParaRPr lang="en-US" sz="1400" dirty="0"/>
          </a:p>
        </p:txBody>
      </p:sp>
      <p:sp>
        <p:nvSpPr>
          <p:cNvPr id="17" name="Text 15"/>
          <p:cNvSpPr/>
          <p:nvPr/>
        </p:nvSpPr>
        <p:spPr>
          <a:xfrm>
            <a:off x="177895" y="6379071"/>
            <a:ext cx="3945335" cy="348258"/>
          </a:xfrm>
          <a:prstGeom prst="rect">
            <a:avLst/>
          </a:prstGeom>
          <a:noFill/>
          <a:ln/>
        </p:spPr>
        <p:txBody>
          <a:bodyPr wrap="square" lIns="0" tIns="0" rIns="0" bIns="0" rtlCol="0" anchor="ctr">
            <a:normAutofit/>
          </a:bodyP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FocusLens (Our AI System): AI-Powered Focus Monitoring &amp; Personalized Productivity Optimization System</a:t>
            </a:r>
            <a:endParaRPr lang="en-US" sz="1000" dirty="0"/>
          </a:p>
        </p:txBody>
      </p:sp>
      <p:sp>
        <p:nvSpPr>
          <p:cNvPr id="18" name="Text 16"/>
          <p:cNvSpPr/>
          <p:nvPr/>
        </p:nvSpPr>
        <p:spPr>
          <a:xfrm>
            <a:off x="11951393" y="6466086"/>
            <a:ext cx="240302" cy="174129"/>
          </a:xfrm>
          <a:prstGeom prst="rect">
            <a:avLst/>
          </a:prstGeom>
          <a:noFill/>
          <a:ln/>
        </p:spPr>
        <p:txBody>
          <a:bodyPr wrap="none" lIns="0" tIns="0" rIns="0" bIns="0" rtlCol="0" anchor="ctr"/>
          <a:lstStyle/>
          <a:p>
            <a:pPr marL="0" indent="0" algn="l">
              <a:lnSpc>
                <a:spcPct val="117000"/>
              </a:lnSpc>
              <a:buNone/>
            </a:pPr>
            <a:r>
              <a:rPr lang="en-US" sz="1000" dirty="0">
                <a:solidFill>
                  <a:srgbClr val="F2EDFB"/>
                </a:solidFill>
                <a:latin typeface="Bitter" pitchFamily="34" charset="0"/>
                <a:ea typeface="Bitter" pitchFamily="34" charset="-122"/>
                <a:cs typeface="Bitter" pitchFamily="34" charset="-120"/>
              </a:rPr>
              <a:t>7</a:t>
            </a:r>
            <a:endParaRPr lang="en-US" sz="1000" dirty="0"/>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D894AEB1-F974-763D-D581-CD7A7777C480}"/>
                  </a:ext>
                </a:extLst>
              </p14:cNvPr>
              <p14:cNvContentPartPr/>
              <p14:nvPr/>
            </p14:nvContentPartPr>
            <p14:xfrm>
              <a:off x="10896503" y="6504983"/>
              <a:ext cx="1153800" cy="210240"/>
            </p14:xfrm>
          </p:contentPart>
        </mc:Choice>
        <mc:Fallback xmlns="">
          <p:pic>
            <p:nvPicPr>
              <p:cNvPr id="19" name="Ink 18">
                <a:extLst>
                  <a:ext uri="{FF2B5EF4-FFF2-40B4-BE49-F238E27FC236}">
                    <a16:creationId xmlns:a16="http://schemas.microsoft.com/office/drawing/2014/main" id="{D894AEB1-F974-763D-D581-CD7A7777C480}"/>
                  </a:ext>
                </a:extLst>
              </p:cNvPr>
              <p:cNvPicPr/>
              <p:nvPr/>
            </p:nvPicPr>
            <p:blipFill>
              <a:blip r:embed="rId4"/>
              <a:stretch>
                <a:fillRect/>
              </a:stretch>
            </p:blipFill>
            <p:spPr>
              <a:xfrm>
                <a:off x="10833503" y="6442343"/>
                <a:ext cx="1279440" cy="335880"/>
              </a:xfrm>
              <a:prstGeom prst="rect">
                <a:avLst/>
              </a:prstGeom>
            </p:spPr>
          </p:pic>
        </mc:Fallback>
      </mc:AlternateContent>
    </p:spTree>
  </p:cSld>
  <p:clrMapOvr>
    <a:masterClrMapping/>
  </p:clrMapOvr>
</p:sld>
</file>

<file path=ppt/slides/slide8.xml><?xml version="1.0" encoding="utf-8"?>
<ns0:sld xmlns:ns0="http://schemas.openxmlformats.org/presentationml/2006/main" xmlns:ns1="http://schemas.openxmlformats.org/drawingml/2006/main" xmlns:ns2="http://schemas.openxmlformats.org/markup-compatibility/2006" xmlns:ns3="http://schemas.microsoft.com/office/powerpoint/2010/main" xmlns:ns4="http://schemas.openxmlformats.org/officeDocument/2006/relationships" xmlns:ns5="http://schemas.microsoft.com/office/drawing/2014/main">
  <ns0:cSld name="Slide 8">
    <ns0:spTree>
      <ns0:nvGrpSpPr>
        <ns0:cNvPr id="1" name=""/>
        <ns0:cNvGrpSpPr/>
        <ns0:nvPr/>
      </ns0:nvGrpSpPr>
      <ns0:grpSpPr>
        <ns1:xfrm>
          <ns1:off x="0" y="0"/>
          <ns1:ext cx="0" cy="0"/>
          <ns1:chOff x="0" y="0"/>
          <ns1:chExt cx="0" cy="0"/>
        </ns1:xfrm>
      </ns0:grpSpPr>
      <ns0:sp>
        <ns0:nvSpPr>
          <ns0:cNvPr id="2" name="Text 0"/>
          <ns0:cNvSpPr/>
          <ns0:nvPr/>
        </ns0:nvSpPr>
        <ns0:spPr>
          <ns1:xfrm>
            <ns1:off x="177895" y="421846"/>
            <ns1:ext cx="11632909" cy="186630"/>
          </ns1:xfrm>
          <ns1:prstGeom prst="rect">
            <ns1:avLst/>
          </ns1:prstGeom>
          <ns1:noFill/>
          <ns1:ln/>
        </ns0:spPr>
        <ns0:txBody>
          <ns1:bodyPr wrap="none" lIns="0" tIns="0" rIns="0" bIns="0" rtlCol="0" anchor="t"/>
          <ns1:lstStyle/>
          <ns1:p>
            <ns1:pPr marL="0" indent="0" algn="l">
              <ns1:lnSpc>
                <ns1:spcPct val="117000"/>
              </ns1:lnSpc>
              <ns1:buNone/>
            </ns1:pPr>
            <ns1:r>
              <ns1:rPr lang="en-US" sz="1050" kern="100" spc="63" dirty="0">
                <ns1:solidFill>
                  <ns1:srgbClr val="4CAF50"/>
                </ns1:solidFill>
                <ns1:latin typeface="Bitter" pitchFamily="34" charset="0"/>
                <ns1:ea typeface="Bitter" pitchFamily="34" charset="-122"/>
                <ns1:cs typeface="Bitter" pitchFamily="34" charset="-120"/>
              </ns1:rPr>
              <ns1:t>07 · LITERATURE &amp; FOUNDATIONS</ns1:t>
            </ns1:r>
            <ns1:endParaRPr lang="en-US" sz="1050" dirty="0"/>
          </ns1:p>
        </ns0:txBody>
      </ns0:sp>
      <ns0:sp>
        <ns0:nvSpPr>
          <ns0:cNvPr id="3" name="Text 1"/>
          <ns0:cNvSpPr/>
          <ns0:nvPr/>
        </ns0:nvSpPr>
        <ns0:spPr>
          <ns1:xfrm>
            <ns1:off x="177895" y="712616"/>
            <ns1:ext cx="11074123" cy="446980"/>
          </ns1:xfrm>
          <ns1:prstGeom prst="rect">
            <ns1:avLst/>
          </ns1:prstGeom>
          <ns1:noFill/>
          <ns1:ln/>
        </ns0:spPr>
        <ns0:txBody>
          <ns1:bodyPr wrap="none" lIns="0" tIns="0" rIns="0" bIns="0" rtlCol="0" anchor="t"/>
          <ns1:lstStyle/>
          <ns1:p>
            <ns1:pPr marL="0" indent="0" algn="l">
              <ns1:lnSpc>
                <ns1:spcPct val="92000"/>
              </ns1:lnSpc>
              <ns1:buNone/>
            </ns1:pPr>
            <ns1:r>
              <ns1:rPr lang="en-US" sz="3200" dirty="0">
                <ns1:solidFill>
                  <ns1:srgbClr val="F2EDFB"/>
                </ns1:solidFill>
                <ns1:latin typeface="Jost" pitchFamily="34" charset="0"/>
                <ns1:ea typeface="Jost" pitchFamily="34" charset="-122"/>
                <ns1:cs typeface="Jost" pitchFamily="34" charset="-120"/>
              </ns1:rPr>
              <ns1:t>Academic &amp; Technical References</ns1:t>
            </ns1:r>
            <ns1:endParaRPr lang="en-US" sz="3200" dirty="0"/>
          </ns1:p>
        </ns0:txBody>
      </ns0:sp>
      <ns0:sp>
        <ns0:nvSpPr>
          <ns0:cNvPr id="4" name="Text 2"/>
          <ns0:cNvSpPr/>
          <ns0:nvPr/>
        </ns0:nvSpPr>
        <ns0:spPr>
          <ns1:xfrm>
            <ns1:off x="177895" y="1306282"/>
            <ns1:ext cx="11632909" cy="248841"/>
          </ns1:xfrm>
          <ns1:prstGeom prst="rect">
            <ns1:avLst/>
          </ns1:prstGeom>
          <ns1:noFill/>
          <ns1:ln/>
        </ns0:spPr>
        <ns0:txBody>
          <ns1:bodyPr wrap="none" lIns="0" tIns="0" rIns="0" bIns="0" rtlCol="0" anchor="t"/>
          <ns1:lstStyle/>
          <ns1:p>
            <ns1:pPr marL="0" indent="0" algn="l">
              <ns1:lnSpc>
                <ns1:spcPct val="117000"/>
              </ns1:lnSpc>
              <ns1:buNone/>
            </ns1:pPr>
            <ns1:r>
              <ns1:rPr lang="en-US" sz="1400" dirty="0">
                <ns1:solidFill>
                  <ns1:srgbClr val="E0E1DD"/>
                </ns1:solidFill>
                <ns1:latin typeface="Bitter" pitchFamily="34" charset="0"/>
                <ns1:ea typeface="Bitter" pitchFamily="34" charset="-122"/>
                <ns1:cs typeface="Bitter" pitchFamily="34" charset="-120"/>
              </ns1:rPr>
              <ns1:t>Theoretical foundations supporting computer vision and temporal sequence models.</ns1:t>
            </ns1:r>
            <ns1:endParaRPr lang="en-US" sz="1400" dirty="0"/>
          </ns1:p>
        </ns0:txBody>
      </ns0:sp>
      <ns0:sp>
        <ns0:nvSpPr>
          <ns0:cNvPr id="5" name="Text 3"/>
          <ns0:cNvSpPr/>
          <ns0:nvPr/>
        </ns0:nvSpPr>
        <ns0:spPr>
          <ns1:xfrm>
            <ns1:off x="177895" y="1910722"/>
            <ns1:ext cx="11074123" cy="195560"/>
          </ns1:xfrm>
          <ns1:prstGeom prst="rect">
            <ns1:avLst/>
          </ns1:prstGeom>
          <ns1:noFill/>
          <ns1:ln/>
        </ns0:spPr>
        <ns0:txBody>
          <ns1:bodyPr wrap="none" lIns="0" tIns="0" rIns="0" bIns="0" rtlCol="0" anchor="t"/>
          <ns1:lstStyle/>
          <ns1:p>
            <ns1:pPr marL="0" indent="0" algn="l">
              <ns1:lnSpc>
                <ns1:spcPct val="117000"/>
              </ns1:lnSpc>
              <ns1:buNone/>
            </ns1:pPr>
            <ns1:r>
              <ns1:rPr lang="en-US" sz="1100" b="1" dirty="0">
                <ns1:solidFill>
                  <ns1:srgbClr val="F2EDFB"/>
                </ns1:solidFill>
                <ns1:latin typeface="Bitter Bold" pitchFamily="34" charset="0"/>
                <ns1:ea typeface="Bitter Bold" pitchFamily="34" charset="-122"/>
                <ns1:cs typeface="Bitter Bold" pitchFamily="34" charset="-120"/>
              </ns1:rPr>
              <ns1:t>Soukupová &amp; Čech (2016). Real-Time Eye Blink Detection using Facial Landmarks. CVWW.</ns1:t>
            </ns1:r>
            <ns1:r>
              <ns1:rPr lang="en-US" sz="1100" dirty="0">
                <ns1:solidFill>
                  <ns1:srgbClr val="F2EDFB"/>
                </ns1:solidFill>
                <ns1:latin typeface="Bitter" pitchFamily="34" charset="0"/>
                <ns1:ea typeface="Bitter" pitchFamily="34" charset="-122"/>
                <ns1:cs typeface="Bitter" pitchFamily="34" charset="-120"/>
              </ns1:rPr>
              <ns1:t/>
            </ns1:r>
            <ns1:r>
              <ns1:rPr lang="en-US" sz="1100" i="1" dirty="0">
                <ns1:solidFill>
                  <ns1:srgbClr val="F2EDFB"/>
                </ns1:solidFill>
                <ns1:latin typeface="Bitter" pitchFamily="34" charset="0"/>
                <ns1:ea typeface="Bitter" pitchFamily="34" charset="-122"/>
                <ns1:cs typeface="Bitter" pitchFamily="34" charset="-120"/>
              </ns1:rPr>
              <ns1:t/>
            </ns1:r>
            <ns1:r>
              <ns1:rPr lang="en-US" sz="1100" dirty="0">
                <ns1:solidFill>
                  <ns1:srgbClr val="F2EDFB"/>
                </ns1:solidFill>
                <ns1:latin typeface="Bitter" pitchFamily="34" charset="0"/>
                <ns1:ea typeface="Bitter" pitchFamily="34" charset="-122"/>
                <ns1:cs typeface="Bitter" pitchFamily="34" charset="-120"/>
              </ns1:rPr>
              <ns1:t/>
            </ns1:r>
            <ns1:endParaRPr lang="en-US" sz="1100" dirty="0"/>
          </ns1:p>
        </ns0:txBody>
      </ns0:sp>
      <ns0:sp>
        <ns0:nvSpPr>
          <ns0:cNvPr id="6" name="Text 4"/>
          <ns0:cNvSpPr/>
          <ns0:nvPr/>
        </ns0:nvSpPr>
        <ns0:spPr>
          <ns1:xfrm>
            <ns1:off x="177895" y="2461882"/>
            <ns1:ext cx="11074123" cy="195560"/>
          </ns1:xfrm>
          <ns1:prstGeom prst="rect">
            <ns1:avLst/>
          </ns1:prstGeom>
          <ns1:noFill/>
          <ns1:ln/>
        </ns0:spPr>
        <ns0:txBody>
          <ns1:bodyPr wrap="none" lIns="0" tIns="0" rIns="0" bIns="0" rtlCol="0" anchor="t"/>
          <ns1:lstStyle/>
          <ns1:p>
            <ns1:pPr marL="0" indent="0" algn="l">
              <ns1:lnSpc>
                <ns1:spcPct val="117000"/>
              </ns1:lnSpc>
              <ns1:buNone/>
            </ns1:pPr>
            <ns1:r>
              <ns1:rPr lang="en-US" sz="1100" b="1" dirty="0">
                <ns1:solidFill>
                  <ns1:srgbClr val="F2EDFB"/>
                </ns1:solidFill>
                <ns1:latin typeface="Bitter Bold" pitchFamily="34" charset="0"/>
                <ns1:ea typeface="Bitter Bold" pitchFamily="34" charset="-122"/>
                <ns1:cs typeface="Bitter Bold" pitchFamily="34" charset="-120"/>
              </ns1:rPr>
              <ns1:t>Wu, W., et al. (2023). YuNet: A Tiny and Millisecond Face &amp; Landmark Detector for Edge Devices. IEEE TPAMI.</ns1:t>
            </ns1:r>
            <ns1:r>
              <ns1:rPr lang="en-US" sz="1100" dirty="0">
                <ns1:solidFill>
                  <ns1:srgbClr val="F2EDFB"/>
                </ns1:solidFill>
                <ns1:latin typeface="Bitter" pitchFamily="34" charset="0"/>
                <ns1:ea typeface="Bitter" pitchFamily="34" charset="-122"/>
                <ns1:cs typeface="Bitter" pitchFamily="34" charset="-120"/>
              </ns1:rPr>
              <ns1:t/>
            </ns1:r>
            <ns1:endParaRPr lang="en-US" sz="1100" dirty="0"/>
          </ns1:p>
        </ns0:txBody>
      </ns0:sp>
      <ns0:sp>
        <ns0:nvSpPr>
          <ns0:cNvPr id="7" name="Text 5"/>
          <ns0:cNvSpPr/>
          <ns0:nvPr/>
        </ns0:nvSpPr>
        <ns0:spPr>
          <ns1:xfrm>
            <ns1:off x="177895" y="3013043"/>
            <ns1:ext cx="11074123" cy="195560"/>
          </ns1:xfrm>
          <ns1:prstGeom prst="rect">
            <ns1:avLst/>
          </ns1:prstGeom>
          <ns1:noFill/>
          <ns1:ln/>
        </ns0:spPr>
        <ns0:txBody>
          <ns1:bodyPr wrap="none" lIns="0" tIns="0" rIns="0" bIns="0" rtlCol="0" anchor="t"/>
          <ns1:lstStyle/>
          <ns1:p>
            <ns1:pPr marL="0" indent="0" algn="l">
              <ns1:lnSpc>
                <ns1:spcPct val="117000"/>
              </ns1:lnSpc>
              <ns1:buNone/>
            </ns1:pPr>
            <ns1:r>
              <ns1:rPr lang="en-US" sz="1100" b="1" dirty="0">
                <ns1:solidFill>
                  <ns1:srgbClr val="F2EDFB"/>
                </ns1:solidFill>
                <ns1:latin typeface="Bitter Bold" pitchFamily="34" charset="0"/>
                <ns1:ea typeface="Bitter Bold" pitchFamily="34" charset="-122"/>
                <ns1:cs typeface="Bitter Bold" pitchFamily="34" charset="-120"/>
              </ns1:rPr>
              <ns1:t>Dinges, D. F., et al. (1998). PERCLOS: A Valid Psychophysiological Measure of Alertness &amp; Fatigue. FHWA/NHTSA.</ns1:t>
            </ns1:r>
            <ns1:r>
              <ns1:rPr lang="en-US" sz="1100" dirty="0">
                <ns1:solidFill>
                  <ns1:srgbClr val="F2EDFB"/>
                </ns1:solidFill>
                <ns1:latin typeface="Bitter" pitchFamily="34" charset="0"/>
                <ns1:ea typeface="Bitter" pitchFamily="34" charset="-122"/>
                <ns1:cs typeface="Bitter" pitchFamily="34" charset="-120"/>
              </ns1:rPr>
              <ns1:t/>
            </ns1:r>
            <ns1:r>
              <ns1:rPr lang="en-US" sz="1100" i="1" dirty="0">
                <ns1:solidFill>
                  <ns1:srgbClr val="F2EDFB"/>
                </ns1:solidFill>
                <ns1:latin typeface="Bitter" pitchFamily="34" charset="0"/>
                <ns1:ea typeface="Bitter" pitchFamily="34" charset="-122"/>
                <ns1:cs typeface="Bitter" pitchFamily="34" charset="-120"/>
              </ns1:rPr>
              <ns1:t/>
            </ns1:r>
            <ns1:r>
              <ns1:rPr lang="en-US" sz="1100" dirty="0">
                <ns1:solidFill>
                  <ns1:srgbClr val="F2EDFB"/>
                </ns1:solidFill>
                <ns1:latin typeface="Bitter" pitchFamily="34" charset="0"/>
                <ns1:ea typeface="Bitter" pitchFamily="34" charset="-122"/>
                <ns1:cs typeface="Bitter" pitchFamily="34" charset="-120"/>
              </ns1:rPr>
              <ns1:t/>
            </ns1:r>
            <ns1:endParaRPr lang="en-US" sz="1100" dirty="0"/>
          </ns1:p>
        </ns0:txBody>
      </ns0:sp>
      <ns0:sp>
        <ns0:nvSpPr>
          <ns0:cNvPr id="8" name="Text 6"/>
          <ns0:cNvSpPr/>
          <ns0:nvPr/>
        </ns0:nvSpPr>
        <ns0:spPr>
          <ns1:xfrm>
            <ns1:off x="177895" y="3564203"/>
            <ns1:ext cx="11074123" cy="195560"/>
          </ns1:xfrm>
          <ns1:prstGeom prst="rect">
            <ns1:avLst/>
          </ns1:prstGeom>
          <ns1:noFill/>
          <ns1:ln/>
        </ns0:spPr>
        <ns0:txBody>
          <ns1:bodyPr wrap="none" lIns="0" tIns="0" rIns="0" bIns="0" rtlCol="0" anchor="t"/>
          <ns1:lstStyle/>
          <ns1:p>
            <ns1:pPr marL="0" indent="0" algn="l">
              <ns1:lnSpc>
                <ns1:spcPct val="117000"/>
              </ns1:lnSpc>
              <ns1:buNone/>
            </ns1:pPr>
            <ns1:r>
              <ns1:rPr lang="en-US" sz="1100" b="1" dirty="0">
                <ns1:solidFill>
                  <ns1:srgbClr val="F2EDFB"/>
                </ns1:solidFill>
                <ns1:latin typeface="Bitter Bold" pitchFamily="34" charset="0"/>
                <ns1:ea typeface="Bitter Bold" pitchFamily="34" charset="-122"/>
                <ns1:cs typeface="Bitter Bold" pitchFamily="34" charset="-120"/>
              </ns1:rPr>
              <ns1:t>Zagermann, J., et al. (2018). Measuring Cognitive Load and Attentive Focus using Gaze Tracking. ACM ISS.</ns1:t>
            </ns1:r>
            <ns1:r>
              <ns1:rPr lang="en-US" sz="1100" dirty="0">
                <ns1:solidFill>
                  <ns1:srgbClr val="F2EDFB"/>
                </ns1:solidFill>
                <ns1:latin typeface="Bitter" pitchFamily="34" charset="0"/>
                <ns1:ea typeface="Bitter" pitchFamily="34" charset="-122"/>
                <ns1:cs typeface="Bitter" pitchFamily="34" charset="-120"/>
              </ns1:rPr>
              <ns1:t/>
            </ns1:r>
            <ns1:r>
              <ns1:rPr lang="en-US" sz="1100" i="1" dirty="0">
                <ns1:solidFill>
                  <ns1:srgbClr val="F2EDFB"/>
                </ns1:solidFill>
                <ns1:latin typeface="Bitter" pitchFamily="34" charset="0"/>
                <ns1:ea typeface="Bitter" pitchFamily="34" charset="-122"/>
                <ns1:cs typeface="Bitter" pitchFamily="34" charset="-120"/>
              </ns1:rPr>
              <ns1:t/>
            </ns1:r>
            <ns1:r>
              <ns1:rPr lang="en-US" sz="1100" dirty="0">
                <ns1:solidFill>
                  <ns1:srgbClr val="F2EDFB"/>
                </ns1:solidFill>
                <ns1:latin typeface="Bitter" pitchFamily="34" charset="0"/>
                <ns1:ea typeface="Bitter" pitchFamily="34" charset="-122"/>
                <ns1:cs typeface="Bitter" pitchFamily="34" charset="-120"/>
              </ns1:rPr>
              <ns1:t/>
            </ns1:r>
            <ns1:endParaRPr lang="en-US" sz="1100" dirty="0"/>
          </ns1:p>
        </ns0:txBody>
      </ns0:sp>
      <ns0:sp>
        <ns0:nvSpPr>
          <ns0:cNvPr id="9" name="Text 7"/>
          <ns0:cNvSpPr/>
          <ns0:nvPr/>
        </ns0:nvSpPr>
        <ns0:spPr>
          <ns1:xfrm>
            <ns1:off x="177895" y="4115363"/>
            <ns1:ext cx="11074123" cy="195560"/>
          </ns1:xfrm>
          <ns1:prstGeom prst="rect">
            <ns1:avLst/>
          </ns1:prstGeom>
          <ns1:noFill/>
          <ns1:ln/>
        </ns0:spPr>
        <ns0:txBody>
          <ns1:bodyPr wrap="none" lIns="0" tIns="0" rIns="0" bIns="0" rtlCol="0" anchor="t"/>
          <ns1:lstStyle/>
          <ns1:p>
            <ns1:pPr marL="0" indent="0" algn="l">
              <ns1:lnSpc>
                <ns1:spcPct val="117000"/>
              </ns1:lnSpc>
              <ns1:buNone/>
            </ns1:pPr>
            <ns1:r>
              <ns1:rPr lang="en-US" sz="1100" b="1" dirty="0">
                <ns1:solidFill>
                  <ns1:srgbClr val="F2EDFB"/>
                </ns1:solidFill>
                <ns1:latin typeface="Bitter Bold" pitchFamily="34" charset="0"/>
                <ns1:ea typeface="Bitter Bold" pitchFamily="34" charset="-122"/>
                <ns1:cs typeface="Bitter Bold" pitchFamily="34" charset="-120"/>
              </ns1:rPr>
              <ns1:t>Coles-Brennan, C., et al. (2019). Management of Digital Screen Fatigue: Clinical Role of Dynamic Micro-Breaks. BMJ Open.</ns1:t>
            </ns1:r>
            <ns1:r>
              <ns1:rPr lang="en-US" sz="1100" dirty="0">
                <ns1:solidFill>
                  <ns1:srgbClr val="F2EDFB"/>
                </ns1:solidFill>
                <ns1:latin typeface="Bitter" pitchFamily="34" charset="0"/>
                <ns1:ea typeface="Bitter" pitchFamily="34" charset="-122"/>
                <ns1:cs typeface="Bitter" pitchFamily="34" charset="-120"/>
              </ns1:rPr>
              <ns1:t/>
            </ns1:r>
            <ns1:endParaRPr lang="en-US" sz="1100" dirty="0"/>
          </ns1:p>
        </ns0:txBody>
      </ns0:sp>
      <ns0:sp>
        <ns0:nvSpPr>
          <ns0:cNvPr id="10" name="Shape 8"/>
          <ns0:cNvSpPr/>
          <ns0:nvPr/>
        </ns0:nvSpPr>
        <ns0:spPr>
          <ns1:xfrm>
            <ns1:off x="177895" y="2277732"/>
            <ns1:ext cx="11074123" cy="12700"/>
          </ns1:xfrm>
          <ns1:prstGeom prst="rect">
            <ns1:avLst/>
          </ns1:prstGeom>
          <ns1:solidFill>
            <ns1:srgbClr val="B79CF5"/>
          </ns1:solidFill>
          <ns1:ln/>
        </ns0:spPr>
      </ns0:sp>
      <ns0:sp>
        <ns0:nvSpPr>
          <ns0:cNvPr id="11" name="Shape 9"/>
          <ns0:cNvSpPr/>
          <ns0:nvPr/>
        </ns0:nvSpPr>
        <ns0:spPr>
          <ns1:xfrm>
            <ns1:off x="177895" y="2828893"/>
            <ns1:ext cx="11074123" cy="12700"/>
          </ns1:xfrm>
          <ns1:prstGeom prst="rect">
            <ns1:avLst/>
          </ns1:prstGeom>
          <ns1:solidFill>
            <ns1:srgbClr val="B79CF5"/>
          </ns1:solidFill>
          <ns1:ln/>
        </ns0:spPr>
      </ns0:sp>
      <ns0:sp>
        <ns0:nvSpPr>
          <ns0:cNvPr id="12" name="Shape 10"/>
          <ns0:cNvSpPr/>
          <ns0:nvPr/>
        </ns0:nvSpPr>
        <ns0:spPr>
          <ns1:xfrm>
            <ns1:off x="177895" y="3380053"/>
            <ns1:ext cx="11074123" cy="12700"/>
          </ns1:xfrm>
          <ns1:prstGeom prst="rect">
            <ns1:avLst/>
          </ns1:prstGeom>
          <ns1:solidFill>
            <ns1:srgbClr val="B79CF5"/>
          </ns1:solidFill>
          <ns1:ln/>
        </ns0:spPr>
      </ns0:sp>
      <ns0:sp>
        <ns0:nvSpPr>
          <ns0:cNvPr id="13" name="Shape 11"/>
          <ns0:cNvSpPr/>
          <ns0:nvPr/>
        </ns0:nvSpPr>
        <ns0:spPr>
          <ns1:xfrm>
            <ns1:off x="177895" y="3931213"/>
            <ns1:ext cx="11074123" cy="12700"/>
          </ns1:xfrm>
          <ns1:prstGeom prst="rect">
            <ns1:avLst/>
          </ns1:prstGeom>
          <ns1:solidFill>
            <ns1:srgbClr val="B79CF5"/>
          </ns1:solidFill>
          <ns1:ln/>
        </ns0:spPr>
      </ns0:sp>
      <ns0:sp>
        <ns0:nvSpPr>
          <ns0:cNvPr id="14" name="Text 12"/>
          <ns0:cNvSpPr/>
          <ns0:nvPr/>
        </ns0:nvSpPr>
        <ns0:spPr>
          <ns1:xfrm>
            <ns1:off x="177895" y="6379071"/>
            <ns1:ext cx="3945335" cy="348258"/>
          </ns1:xfrm>
          <ns1:prstGeom prst="rect">
            <ns1:avLst/>
          </ns1:prstGeom>
          <ns1:noFill/>
          <ns1:ln/>
        </ns0:spPr>
        <ns0:txBody>
          <ns1:bodyPr wrap="square" lIns="0" tIns="0" rIns="0" bIns="0" rtlCol="0" anchor="ctr">
            <ns1:normAutofit/>
          </ns1:bodyPr>
          <ns1:lstStyle/>
          <ns1:p>
            <ns1:pPr marL="0" indent="0" algn="l">
              <ns1:lnSpc>
                <ns1:spcPct val="117000"/>
              </ns1:lnSpc>
              <ns1:buNone/>
            </ns1:pPr>
            <ns1:r>
              <ns1:rPr lang="en-US" sz="1000" dirty="0">
                <ns1:solidFill>
                  <ns1:srgbClr val="F2EDFB"/>
                </ns1:solidFill>
                <ns1:latin typeface="Bitter" pitchFamily="34" charset="0"/>
                <ns1:ea typeface="Bitter" pitchFamily="34" charset="-122"/>
                <ns1:cs typeface="Bitter" pitchFamily="34" charset="-120"/>
              </ns1:rPr>
              <ns1:t>FocusLens (Our AI System): AI-Powered Focus Monitoring &amp; Personalized Productivity Optimization System</ns1:t>
            </ns1:r>
            <ns1:endParaRPr lang="en-US" sz="1000" dirty="0"/>
          </ns1:p>
        </ns0:txBody>
      </ns0:sp>
      <ns0:sp>
        <ns0:nvSpPr>
          <ns0:cNvPr id="15" name="Text 13"/>
          <ns0:cNvSpPr/>
          <ns0:nvPr/>
        </ns0:nvSpPr>
        <ns0:spPr>
          <ns1:xfrm>
            <ns1:off x="11939090" y="6466086"/>
            <ns1:ext cx="252605" cy="174129"/>
          </ns1:xfrm>
          <ns1:prstGeom prst="rect">
            <ns1:avLst/>
          </ns1:prstGeom>
          <ns1:noFill/>
          <ns1:ln/>
        </ns0:spPr>
        <ns0:txBody>
          <ns1:bodyPr wrap="none" lIns="0" tIns="0" rIns="0" bIns="0" rtlCol="0" anchor="ctr"/>
          <ns1:lstStyle/>
          <ns1:p>
            <ns1:pPr marL="0" indent="0" algn="l">
              <ns1:lnSpc>
                <ns1:spcPct val="117000"/>
              </ns1:lnSpc>
              <ns1:buNone/>
            </ns1:pPr>
            <ns1:r>
              <ns1:rPr lang="en-US" sz="1000" dirty="0">
                <ns1:solidFill>
                  <ns1:srgbClr val="F2EDFB"/>
                </ns1:solidFill>
                <ns1:latin typeface="Bitter" pitchFamily="34" charset="0"/>
                <ns1:ea typeface="Bitter" pitchFamily="34" charset="-122"/>
                <ns1:cs typeface="Bitter" pitchFamily="34" charset="-120"/>
              </ns1:rPr>
              <ns1:t>8</ns1:t>
            </ns1:r>
            <ns1:endParaRPr lang="en-US" sz="1000" dirty="0"/>
          </ns1:p>
        </ns0:txBody>
      </ns0:sp>
      <ns2:AlternateContent>
        <ns2:Choice Requires="p14">
          <ns0:contentPart ns3:bwMode="auto" ns4:id="rId3">
            <ns3:nvContentPartPr>
              <ns3:cNvPr id="16" name="Ink 15">
                <ns1:extLst>
                  <ns1:ext uri="{FF2B5EF4-FFF2-40B4-BE49-F238E27FC236}">
                    <ns5:creationId id="{62DA4CD8-21B0-775D-FB42-D781EAF51EBA}"/>
                  </ns1:ext>
                </ns1:extLst>
              </ns3:cNvPr>
              <ns3:cNvContentPartPr/>
              <ns3:nvPr/>
            </ns3:nvContentPartPr>
            <ns3:xfrm>
              <ns1:off x="10908023" y="6571583"/>
              <ns1:ext cx="1172520" cy="195840"/>
            </ns3:xfrm>
          </ns0:contentPart>
        </ns2:Choice>
        <ns2:Fallback>
          <ns0:pic>
            <ns0:nvPicPr>
              <ns0:cNvPr id="16" name="Ink 15">
                <ns1:extLst>
                  <ns1:ext uri="{FF2B5EF4-FFF2-40B4-BE49-F238E27FC236}">
                    <ns5:creationId id="{62DA4CD8-21B0-775D-FB42-D781EAF51EBA}"/>
                  </ns1:ext>
                </ns1:extLst>
              </ns0:cNvPr>
              <ns0:cNvPicPr/>
              <ns0:nvPr/>
            </ns0:nvPicPr>
            <ns0:blipFill>
              <ns1:blip ns4:embed="rId4"/>
              <ns1:stretch>
                <ns1:fillRect/>
              </ns1:stretch>
            </ns0:blipFill>
            <ns0:spPr>
              <ns1:xfrm>
                <ns1:off x="10845383" y="6508943"/>
                <ns1:ext cx="1298160" cy="321480"/>
              </ns1:xfrm>
              <ns1:prstGeom prst="rect">
                <ns1:avLst/>
              </ns1:prstGeom>
            </ns0:spPr>
          </ns0:pic>
        </ns2:Fallback>
      </ns2:AlternateContent>
      <ns2:AlternateContent>
        <ns2:Choice Requires="p14">
          <ns0:contentPart ns3:bwMode="auto" ns4:id="rId5">
            <ns3:nvContentPartPr>
              <ns3:cNvPr id="17" name="Ink 16">
                <ns1:extLst>
                  <ns1:ext uri="{FF2B5EF4-FFF2-40B4-BE49-F238E27FC236}">
                    <ns5:creationId id="{B45D0613-0C13-F1CD-D565-B331C4779C63}"/>
                  </ns1:ext>
                </ns1:extLst>
              </ns3:cNvPr>
              <ns3:cNvContentPartPr/>
              <ns3:nvPr/>
            </ns3:nvContentPartPr>
            <ns3:xfrm>
              <ns1:off x="13010805" y="2390640"/>
              <ns1:ext cx="360" cy="360"/>
            </ns3:xfrm>
          </ns0:contentPart>
        </ns2:Choice>
        <ns2:Fallback>
          <ns0:pic>
            <ns0:nvPicPr>
              <ns0:cNvPr id="17" name="Ink 16">
                <ns1:extLst>
                  <ns1:ext uri="{FF2B5EF4-FFF2-40B4-BE49-F238E27FC236}">
                    <ns5:creationId id="{B45D0613-0C13-F1CD-D565-B331C4779C63}"/>
                  </ns1:ext>
                </ns1:extLst>
              </ns0:cNvPr>
              <ns0:cNvPicPr/>
              <ns0:nvPr/>
            </ns0:nvPicPr>
            <ns0:blipFill>
              <ns1:blip ns4:embed="rId6"/>
              <ns1:stretch>
                <ns1:fillRect/>
              </ns1:stretch>
            </ns0:blipFill>
            <ns0:spPr>
              <ns1:xfrm>
                <ns1:off x="12948165" y="2327640"/>
                <ns1:ext cx="126000" cy="126000"/>
              </ns1:xfrm>
              <ns1:prstGeom prst="rect">
                <ns1:avLst/>
              </ns1:prstGeom>
            </ns0:spPr>
          </ns0:pic>
        </ns2:Fallback>
      </ns2:AlternateContent>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1205</Words>
  <Application>Microsoft Office PowerPoint</Application>
  <PresentationFormat>Widescreen</PresentationFormat>
  <Paragraphs>171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Bitter</vt:lpstr>
      <vt:lpstr>Jost</vt:lpstr>
      <vt:lpstr>Bitter SemiBold</vt:lpstr>
      <vt:lpstr>Bitter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Ashish Jha</cp:lastModifiedBy>
  <cp:revision>8</cp:revision>
  <dcterms:created xsi:type="dcterms:W3CDTF">2026-10-18T07:52:56Z</dcterms:created>
  <dcterms:modified xsi:type="dcterms:W3CDTF">2026-10-18T11:06:49Z</dcterms:modified>
</cp:coreProperties>
</file>